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713232"/>
            <a:ext cx="192024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Индивидуальный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7909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62233"/>
                </a:solidFill>
                <a:latin typeface="Calibri"/>
              </a:rPr>
              <a:t>Backend-DevOps разработка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423160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87587"/>
                </a:solidFill>
                <a:latin typeface="Calibri"/>
              </a:rPr>
              <a:t>Визитка профессии и учебный практический проект</a:t>
            </a:r>
          </a:p>
        </p:txBody>
      </p:sp>
      <p:sp>
        <p:nvSpPr>
          <p:cNvPr id="6" name="Oval 5"/>
          <p:cNvSpPr/>
          <p:nvPr/>
        </p:nvSpPr>
        <p:spPr>
          <a:xfrm>
            <a:off x="8366760" y="1280160"/>
            <a:ext cx="960120" cy="9601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API</a:t>
            </a:r>
          </a:p>
        </p:txBody>
      </p:sp>
      <p:sp>
        <p:nvSpPr>
          <p:cNvPr id="7" name="Oval 6"/>
          <p:cNvSpPr/>
          <p:nvPr/>
        </p:nvSpPr>
        <p:spPr>
          <a:xfrm>
            <a:off x="9829800" y="1280160"/>
            <a:ext cx="960120" cy="9601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DB</a:t>
            </a:r>
          </a:p>
        </p:txBody>
      </p:sp>
      <p:sp>
        <p:nvSpPr>
          <p:cNvPr id="8" name="Oval 7"/>
          <p:cNvSpPr/>
          <p:nvPr/>
        </p:nvSpPr>
        <p:spPr>
          <a:xfrm>
            <a:off x="9098280" y="2761488"/>
            <a:ext cx="960120" cy="9601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9E0B"/>
                </a:solidFill>
                <a:latin typeface="Calibri"/>
              </a:rPr>
              <a:t>CI</a:t>
            </a:r>
          </a:p>
        </p:txBody>
      </p:sp>
      <p:sp>
        <p:nvSpPr>
          <p:cNvPr id="9" name="Oval 8"/>
          <p:cNvSpPr/>
          <p:nvPr/>
        </p:nvSpPr>
        <p:spPr>
          <a:xfrm>
            <a:off x="9829800" y="4187952"/>
            <a:ext cx="960120" cy="96012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F4444"/>
                </a:solidFill>
                <a:latin typeface="Calibri"/>
              </a:rPr>
              <a:t>OPS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0" y="1764792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72600" y="2148840"/>
            <a:ext cx="45720" cy="64008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82912" y="3703320"/>
            <a:ext cx="365760" cy="48463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187952"/>
            <a:ext cx="5394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40740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2D3748"/>
                </a:solidFill>
                <a:latin typeface="Calibri"/>
              </a:rPr>
              <a:t>Проект выполнил: ФИО студента, группа 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828032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2D3748"/>
                </a:solidFill>
                <a:latin typeface="Calibri"/>
              </a:rPr>
              <a:t>Руководитель проекта: ФИО руководителя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61081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87587"/>
                </a:solidFill>
                <a:latin typeface="Calibri"/>
              </a:rPr>
              <a:t>Широкоформатная презентация для публичной защиты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Проблемное поле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Почему тема Backend-DevOps важна для современной веб-разработки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580644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2500">
                <a:solidFill>
                  <a:srgbClr val="2D3748"/>
                </a:solidFill>
                <a:latin typeface="Calibri"/>
              </a:defRPr>
            </a:pPr>
            <a:r>
              <a:t>Как веб-сервис обрабатывает запросы пользователей?</a:t>
            </a:r>
          </a:p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2500">
                <a:solidFill>
                  <a:srgbClr val="2D3748"/>
                </a:solidFill>
                <a:latin typeface="Calibri"/>
              </a:defRPr>
            </a:pPr>
            <a:r>
              <a:t>Почему недостаточно просто написать код?</a:t>
            </a:r>
          </a:p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2500">
                <a:solidFill>
                  <a:srgbClr val="2D3748"/>
                </a:solidFill>
                <a:latin typeface="Calibri"/>
              </a:defRPr>
            </a:pPr>
            <a:r>
              <a:t>Как быстро и безопасно выпускать обновления?</a:t>
            </a:r>
          </a:p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2500">
                <a:solidFill>
                  <a:srgbClr val="2D3748"/>
                </a:solidFill>
                <a:latin typeface="Calibri"/>
              </a:defRPr>
            </a:pPr>
            <a:r>
              <a:t>Что делает систему устойчивой к сбоям?</a:t>
            </a:r>
          </a:p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2500">
                <a:solidFill>
                  <a:srgbClr val="2D3748"/>
                </a:solidFill>
                <a:latin typeface="Calibri"/>
              </a:defRPr>
            </a:pPr>
            <a:r>
              <a:t>Какие навыки нужны Backend-DevOps специалисту?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83080"/>
            <a:ext cx="3611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82127" y="2240280"/>
            <a:ext cx="713232" cy="71323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26771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33"/>
                </a:solidFill>
                <a:latin typeface="Calibri"/>
              </a:rPr>
              <a:t>код</a:t>
            </a:r>
          </a:p>
        </p:txBody>
      </p:sp>
      <p:sp>
        <p:nvSpPr>
          <p:cNvPr id="10" name="Oval 9"/>
          <p:cNvSpPr/>
          <p:nvPr/>
        </p:nvSpPr>
        <p:spPr>
          <a:xfrm>
            <a:off x="7882127" y="3154680"/>
            <a:ext cx="713232" cy="713232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318211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33"/>
                </a:solidFill>
                <a:latin typeface="Calibri"/>
              </a:rPr>
              <a:t>деплой</a:t>
            </a:r>
          </a:p>
        </p:txBody>
      </p:sp>
      <p:sp>
        <p:nvSpPr>
          <p:cNvPr id="12" name="Oval 11"/>
          <p:cNvSpPr/>
          <p:nvPr/>
        </p:nvSpPr>
        <p:spPr>
          <a:xfrm>
            <a:off x="7882127" y="4069080"/>
            <a:ext cx="713232" cy="71323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409651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33"/>
                </a:solidFill>
                <a:latin typeface="Calibri"/>
              </a:rPr>
              <a:t>поддержка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38744" y="2953512"/>
            <a:ext cx="0" cy="201168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38744" y="3867912"/>
            <a:ext cx="0" cy="201168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Понятие Backend-DevOps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Две области, которые соединяют разработку и эксплуатацию сервиса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737360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947672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93852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87168"/>
            <a:ext cx="448055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D3748"/>
                </a:solidFill>
                <a:latin typeface="Calibri"/>
              </a:defRPr>
            </a:pPr>
            <a:r>
              <a:t>серверная логика приложения</a:t>
            </a:r>
          </a:p>
          <a:p>
            <a:pPr>
              <a:buChar char="•"/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D3748"/>
                </a:solidFill>
                <a:latin typeface="Calibri"/>
              </a:defRPr>
            </a:pPr>
            <a:r>
              <a:t>API для сайта или мобильного клиента</a:t>
            </a:r>
          </a:p>
          <a:p>
            <a:pPr>
              <a:buChar char="•"/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D3748"/>
                </a:solidFill>
                <a:latin typeface="Calibri"/>
              </a:defRPr>
            </a:pPr>
            <a:r>
              <a:t>работа с базами данных</a:t>
            </a:r>
          </a:p>
          <a:p>
            <a:pPr>
              <a:buChar char="•"/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D3748"/>
                </a:solidFill>
                <a:latin typeface="Calibri"/>
              </a:defRPr>
            </a:pPr>
            <a:r>
              <a:t>авторизация, безопасность, бизнес-правила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50749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56248" y="194767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193852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87168"/>
            <a:ext cx="448055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D3748"/>
                </a:solidFill>
                <a:latin typeface="Calibri"/>
              </a:defRPr>
            </a:pPr>
            <a:r>
              <a:t>автоматизация сборки и доставки</a:t>
            </a:r>
          </a:p>
          <a:p>
            <a:pPr>
              <a:buChar char="•"/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D3748"/>
                </a:solidFill>
                <a:latin typeface="Calibri"/>
              </a:defRPr>
            </a:pPr>
            <a:r>
              <a:t>контейнеры и инфраструктура</a:t>
            </a:r>
          </a:p>
          <a:p>
            <a:pPr>
              <a:buChar char="•"/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D3748"/>
                </a:solidFill>
                <a:latin typeface="Calibri"/>
              </a:defRPr>
            </a:pPr>
            <a:r>
              <a:t>мониторинг, логи, алерты</a:t>
            </a:r>
          </a:p>
          <a:p>
            <a:pPr>
              <a:buChar char="•"/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D3748"/>
                </a:solidFill>
                <a:latin typeface="Calibri"/>
              </a:defRPr>
            </a:pPr>
            <a:r>
              <a:t>надежность после запуска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5532120"/>
            <a:ext cx="3566160" cy="502920"/>
          </a:xfrm>
          <a:prstGeom prst="roundRect">
            <a:avLst/>
          </a:prstGeom>
          <a:solidFill>
            <a:srgbClr val="16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общая цель: стабильный веб-сервис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Основные задачи и инструменты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Что ежедневно использует специалист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112264"/>
            <a:ext cx="658368" cy="65836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08483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45059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REST / GraphQL
контракты данных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82312" y="2112264"/>
            <a:ext cx="658368" cy="658368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B981"/>
                </a:solidFill>
                <a:latin typeface="Calibri"/>
              </a:rPr>
              <a:t>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8483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45059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PostgreSQL / Redis
хранение и кэш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85632" y="2112264"/>
            <a:ext cx="658368" cy="658368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9E0B"/>
                </a:solidFill>
                <a:latin typeface="Calibri"/>
              </a:rPr>
              <a:t>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08483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45059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ветки, ревью
история изменений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2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3986783"/>
            <a:ext cx="658368" cy="65836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A5E9"/>
                </a:solidFill>
                <a:latin typeface="Calibri"/>
              </a:rPr>
              <a:t>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9593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32511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контейнеры
одинаковая среда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70332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82312" y="3986783"/>
            <a:ext cx="658368" cy="658368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F4444"/>
                </a:solidFill>
                <a:latin typeface="Calibri"/>
              </a:rPr>
              <a:t>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9593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32511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тесты и сборка
перед релизом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70332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85632" y="3986783"/>
            <a:ext cx="658368" cy="658368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B981"/>
                </a:solidFill>
                <a:latin typeface="Calibri"/>
              </a:rPr>
              <a:t>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9593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32511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логи и метрики
поиск ошибок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Как устроен веб-сервис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Упрощенная схема движения запроса и обновления кода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325880" cy="7498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Пользователь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331720"/>
            <a:ext cx="1325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6223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331720"/>
            <a:ext cx="1325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62233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331720"/>
            <a:ext cx="1325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6223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331720"/>
            <a:ext cx="1325880" cy="7498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База данных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706624"/>
            <a:ext cx="365759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2706624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7840" y="2706624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2706624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41605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Контур доставки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096512"/>
            <a:ext cx="1078992" cy="47548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096512"/>
            <a:ext cx="1078992" cy="47548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4096512"/>
            <a:ext cx="1078992" cy="47548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096512"/>
            <a:ext cx="1078992" cy="47548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4096512"/>
            <a:ext cx="1078992" cy="47548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Monitor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22191" y="4334256"/>
            <a:ext cx="384049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85232" y="4334256"/>
            <a:ext cx="384048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48272" y="4334256"/>
            <a:ext cx="384048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11312" y="4334256"/>
            <a:ext cx="384048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074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2D3748"/>
                </a:solidFill>
                <a:latin typeface="Calibri"/>
              </a:rPr>
              <a:t>Backend отвечает за обработку запросов, DevOps — за предсказуемый путь кода до работающего сервиса.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Практическая часть: что сделано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Учебный проект показывает полный путь от идеи до запуска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749039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2996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33"/>
                </a:solidFill>
                <a:latin typeface="Calibri"/>
              </a:rPr>
              <a:t>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70048"/>
            <a:ext cx="3063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2D3748"/>
                </a:solidFill>
                <a:latin typeface="Calibri"/>
              </a:rPr>
              <a:t>Разработать серверную часть веб-сервиса и описать DevOps-процесс его развертывания.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737360"/>
            <a:ext cx="274320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1. Backend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API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данные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валидация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2743200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2. DevOps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контейнер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CI/CD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логи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3794760"/>
            <a:ext cx="5897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62233"/>
                </a:solidFill>
                <a:latin typeface="Calibri"/>
              </a:defRPr>
            </a:pPr>
            <a:r>
              <a:t>Результат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прототип сервиса + понятная схема запуска и поддержки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26679" y="2450592"/>
            <a:ext cx="411481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55080" y="3154680"/>
            <a:ext cx="228600" cy="64008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235440" y="3154680"/>
            <a:ext cx="274320" cy="64008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Как выполнялась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Последовательность этапов без лишней детализации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749808" cy="74980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18488" y="2523744"/>
            <a:ext cx="694944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1546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62233"/>
                </a:solidFill>
                <a:latin typeface="Calibri"/>
              </a:rPr>
              <a:t>Анализ требований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22191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какие данные и действия нужны пользователю</a:t>
            </a:r>
          </a:p>
        </p:txBody>
      </p:sp>
      <p:sp>
        <p:nvSpPr>
          <p:cNvPr id="10" name="Oval 9"/>
          <p:cNvSpPr/>
          <p:nvPr/>
        </p:nvSpPr>
        <p:spPr>
          <a:xfrm>
            <a:off x="3081528" y="2148840"/>
            <a:ext cx="749808" cy="749808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31336" y="2523744"/>
            <a:ext cx="694944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52928" y="31546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62233"/>
                </a:solidFill>
                <a:latin typeface="Calibri"/>
              </a:rPr>
              <a:t>Проектирование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822191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эндпоинты, ответы, ошибки</a:t>
            </a:r>
          </a:p>
        </p:txBody>
      </p:sp>
      <p:sp>
        <p:nvSpPr>
          <p:cNvPr id="14" name="Oval 13"/>
          <p:cNvSpPr/>
          <p:nvPr/>
        </p:nvSpPr>
        <p:spPr>
          <a:xfrm>
            <a:off x="5294376" y="2148840"/>
            <a:ext cx="749808" cy="74980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44184" y="2523744"/>
            <a:ext cx="694944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65776" y="31546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62233"/>
                </a:solidFill>
                <a:latin typeface="Calibri"/>
              </a:rPr>
              <a:t>Разработка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3822191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логика, база, проверки</a:t>
            </a:r>
          </a:p>
        </p:txBody>
      </p:sp>
      <p:sp>
        <p:nvSpPr>
          <p:cNvPr id="18" name="Oval 17"/>
          <p:cNvSpPr/>
          <p:nvPr/>
        </p:nvSpPr>
        <p:spPr>
          <a:xfrm>
            <a:off x="7507223" y="2148840"/>
            <a:ext cx="749808" cy="749808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57031" y="2523744"/>
            <a:ext cx="694945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78623" y="31546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62233"/>
                </a:solidFill>
                <a:latin typeface="Calibri"/>
              </a:rPr>
              <a:t>Автоматизация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3822191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Docker, тесты, CI</a:t>
            </a:r>
          </a:p>
        </p:txBody>
      </p:sp>
      <p:sp>
        <p:nvSpPr>
          <p:cNvPr id="22" name="Oval 21"/>
          <p:cNvSpPr/>
          <p:nvPr/>
        </p:nvSpPr>
        <p:spPr>
          <a:xfrm>
            <a:off x="9720072" y="2148840"/>
            <a:ext cx="749808" cy="74980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31546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62233"/>
                </a:solidFill>
                <a:latin typeface="Calibri"/>
              </a:rPr>
              <a:t>Проверка запуска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822191"/>
            <a:ext cx="1600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2D3748"/>
                </a:solidFill>
                <a:latin typeface="Calibri"/>
              </a:rPr>
              <a:t>логи, метрики, исправления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5349240"/>
            <a:ext cx="9966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504688"/>
            <a:ext cx="9372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62233"/>
                </a:solidFill>
                <a:latin typeface="Calibri"/>
              </a:rPr>
              <a:t>Главный принцип: каждое изменение должно быть проверяемым, повторяемым и понятным.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Реализация backend-части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Ключевые элементы серверной логики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40680" y="2331720"/>
            <a:ext cx="1234440" cy="12344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563EB"/>
                </a:solidFill>
                <a:latin typeface="Calibri"/>
              </a:rPr>
              <a:t>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74519"/>
            <a:ext cx="2331720" cy="107899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Модели данных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03320"/>
            <a:ext cx="2331720" cy="107899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F59E0B"/>
                </a:solidFill>
                <a:latin typeface="Calibri"/>
              </a:defRPr>
            </a:pPr>
            <a:r>
              <a:t>Авторизация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874519"/>
            <a:ext cx="2331720" cy="107899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EF4444"/>
                </a:solidFill>
                <a:latin typeface="Calibri"/>
              </a:defRPr>
            </a:pPr>
            <a:r>
              <a:t>Валидация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703320"/>
            <a:ext cx="2331720" cy="10789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0EA5E9"/>
                </a:solidFill>
                <a:latin typeface="Calibri"/>
              </a:defRPr>
            </a:pPr>
            <a:r>
              <a:t>Логи ошибок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414016"/>
            <a:ext cx="2148840" cy="53035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291840" y="2944368"/>
            <a:ext cx="2148840" cy="129844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675120" y="2414016"/>
            <a:ext cx="1691640" cy="53035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2944368"/>
            <a:ext cx="1691640" cy="129844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03320" y="4343400"/>
            <a:ext cx="475488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D3748"/>
                </a:solidFill>
                <a:latin typeface="Calibri"/>
              </a:defRPr>
            </a:pPr>
            <a:r>
              <a:t>API связывает клиента, бизнес-логику и хранилище данных</a:t>
            </a:r>
          </a:p>
          <a:p>
            <a:pPr>
              <a:buChar char="•"/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D3748"/>
                </a:solidFill>
                <a:latin typeface="Calibri"/>
              </a:defRPr>
            </a:pPr>
            <a:r>
              <a:t>ошибки возвращаются понятным форматом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Реализация DevOps-подхода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Как проект готовится к запуску и поддержке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Docker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единая среда для локального и серверного запуска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081528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CI-проверки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тесты и базовый контроль качества перед релизом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379976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Переменные среды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настройки отделены от исходного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8308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Деплой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описан порядок доставки новой версии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081528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Мониторинг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логи помогают быстро найти проблему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379976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Документация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инструкция упрощает повторный запуск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3429000"/>
            <a:ext cx="1078992" cy="475488"/>
          </a:xfrm>
          <a:prstGeom prst="roundRect">
            <a:avLst/>
          </a:prstGeom>
          <a:solidFill>
            <a:srgbClr val="16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=&gt;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806440"/>
            <a:ext cx="8138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62233"/>
                </a:solidFill>
                <a:latin typeface="Calibri"/>
              </a:rPr>
              <a:t>DevOps снижает риск: запуск становится не ручным набором команд, а понятным процессом.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Интересные факты о профессии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Backend-DevOps находится на стыке кода, инфраструктуры и ответственности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093976"/>
            <a:ext cx="566928" cy="56692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2996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Невидимая работа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50591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Пользователь видит сайт, но не видит API, базы, очереди и мониторинг.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8308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093976"/>
            <a:ext cx="566928" cy="566928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02996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Один сбой — много причин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50591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Ошибка может быть в коде, сети, базе данных или конфигурации.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5760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968496"/>
            <a:ext cx="566928" cy="56692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044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Автоматизация экономит часы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25112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Скрипты и CI/CD убирают повторяющиеся ручные действия.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65760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3968496"/>
            <a:ext cx="566928" cy="566928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044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2233"/>
                </a:solidFill>
                <a:latin typeface="Calibri"/>
              </a:rPr>
              <a:t>Культура postmortem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25112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Команды разбирают инциденты без поиска виноватых: важны причины и улучшения.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рынок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Востребованность на рынке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Где нужны специалисты и почему спрос устойчивый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6231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Продуктовые IT-команды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828800"/>
            <a:ext cx="4572000" cy="310896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429768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59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Банки и финтех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487168"/>
            <a:ext cx="4572000" cy="310896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2487168"/>
            <a:ext cx="379476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72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E-commerce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145536"/>
            <a:ext cx="4572000" cy="310896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3145536"/>
            <a:ext cx="352044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31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Гос- и образовательные сервисы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803904"/>
            <a:ext cx="4572000" cy="310896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3803904"/>
            <a:ext cx="315468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9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Аутсорс / интеграторы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4462272"/>
            <a:ext cx="4572000" cy="310896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4462272"/>
            <a:ext cx="301752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20" y="1828800"/>
            <a:ext cx="1965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Доход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зависит от уровня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города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стека</a:t>
            </a:r>
          </a:p>
          <a:p>
            <a:pPr>
              <a:spcAft>
                <a:spcPts val="500"/>
              </a:spcAft>
              <a:defRPr sz="1800">
                <a:solidFill>
                  <a:srgbClr val="2D3748"/>
                </a:solidFill>
                <a:latin typeface="Calibri"/>
              </a:defRPr>
            </a:pPr>
            <a:r>
              <a:t>ответственности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50468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62233"/>
                </a:solidFill>
                <a:latin typeface="Calibri"/>
              </a:rPr>
              <a:t>Карьерные возможности: junior backend → backend developer → DevOps/SRE → team lead / architect.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рынок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Навыки Backend-DevOps специалиста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Технические и командные компетенции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331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2148840"/>
            <a:ext cx="960120" cy="9601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563EB"/>
                </a:solidFill>
                <a:latin typeface="Calibri"/>
              </a:rPr>
              <a:t>КО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7355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Код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67328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Python / Java / Go</a:t>
            </a:r>
          </a:p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архитектура API</a:t>
            </a:r>
          </a:p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тестирование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1874519"/>
            <a:ext cx="2331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79392" y="2148840"/>
            <a:ext cx="960120" cy="9601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0B981"/>
                </a:solidFill>
                <a:latin typeface="Calibri"/>
              </a:rPr>
              <a:t>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327355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3767328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SQL</a:t>
            </a:r>
          </a:p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кэширование</a:t>
            </a:r>
          </a:p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резервные копии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9944" y="1874519"/>
            <a:ext cx="2331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5744" y="2148840"/>
            <a:ext cx="960120" cy="9601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59E0B"/>
                </a:solidFill>
                <a:latin typeface="Calibri"/>
              </a:rPr>
              <a:t>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27355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3" y="3767328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Linux</a:t>
            </a:r>
          </a:p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Docker</a:t>
            </a:r>
          </a:p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1874519"/>
            <a:ext cx="2331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12096" y="2148840"/>
            <a:ext cx="960120" cy="96012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F4444"/>
                </a:solidFill>
                <a:latin typeface="Calibri"/>
              </a:rPr>
              <a:t>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327355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Надежность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6336" y="3767328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логи</a:t>
            </a:r>
          </a:p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метрики</a:t>
            </a:r>
          </a:p>
          <a:p>
            <a:pPr>
              <a:buChar char="•"/>
              <a:lnSpc>
                <a:spcPct val="105000"/>
              </a:lnSpc>
              <a:spcAft>
                <a:spcPts val="200"/>
              </a:spcAft>
              <a:defRPr sz="1700">
                <a:solidFill>
                  <a:srgbClr val="2D3748"/>
                </a:solidFill>
                <a:latin typeface="Calibri"/>
              </a:defRPr>
            </a:pPr>
            <a:r>
              <a:t>безопасность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Кратко о значении проекта и профессии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37360"/>
            <a:ext cx="566928" cy="56692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10512"/>
            <a:ext cx="8915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2D3748"/>
                </a:solidFill>
                <a:latin typeface="Calibri"/>
              </a:rPr>
              <a:t>Backend создает основу веб-сервиса: данные, логику, API.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651760"/>
            <a:ext cx="566928" cy="56692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724912"/>
            <a:ext cx="8915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2D3748"/>
                </a:solidFill>
                <a:latin typeface="Calibri"/>
              </a:rPr>
              <a:t>DevOps превращает код в надежно работающий продукт.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566160"/>
            <a:ext cx="566928" cy="56692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639312"/>
            <a:ext cx="8915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2D3748"/>
                </a:solidFill>
                <a:latin typeface="Calibri"/>
              </a:rPr>
              <a:t>Связка Backend + DevOps повышает скорость и качество релизов.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480560"/>
            <a:ext cx="566928" cy="56692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553712"/>
            <a:ext cx="8915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2D3748"/>
                </a:solidFill>
                <a:latin typeface="Calibri"/>
              </a:rPr>
              <a:t>Профессия требует постоянного обучения и практики.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20040"/>
            <a:ext cx="11887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869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62233"/>
                </a:solidFill>
                <a:latin typeface="Calibri"/>
              </a:rPr>
              <a:t>Предложения и личный план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34440"/>
            <a:ext cx="9784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87587"/>
                </a:solidFill>
                <a:latin typeface="Calibri"/>
              </a:rPr>
              <a:t>Что поможет продолжить работу после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8600"/>
            <a:ext cx="10881360" cy="3200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2971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993391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Практика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4323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делать небольшие сервисы с реальным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2971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993391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Инструменты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4323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уверенно использовать Git, Docker, CI/CD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37360"/>
            <a:ext cx="29718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993391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Качество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4323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писать тесты и проверять ошибки заранее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611880"/>
            <a:ext cx="40690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1" y="3867912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Наблюдаемость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4306824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добавлять логи, метрики, алерты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3611880"/>
            <a:ext cx="40690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3867912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2233"/>
                </a:solidFill>
                <a:latin typeface="Calibri"/>
              </a:rPr>
              <a:t>Портфолио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4306824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D3748"/>
                </a:solidFill>
                <a:latin typeface="Calibri"/>
              </a:rPr>
              <a:t>документировать проекты и запуск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5550408"/>
            <a:ext cx="3657600" cy="4937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цель: уверенный путь от кода до запуска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9728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62233"/>
                </a:solidFill>
                <a:latin typeface="Calibri"/>
              </a:rPr>
              <a:t>Backend-DevOps разработка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1874519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687587"/>
                </a:solidFill>
                <a:latin typeface="Calibri"/>
              </a:rPr>
              <a:t>Визитка профессии и учебный практический проект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92608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154680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2D3748"/>
                </a:solidFill>
                <a:latin typeface="Calibri"/>
              </a:rPr>
              <a:t>Проект выполнил: ФИО студента, группа 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8444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2D3748"/>
                </a:solidFill>
                <a:latin typeface="Calibri"/>
              </a:rPr>
              <a:t>Руководитель проекта: ФИО руководителя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166360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563EB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9" name="Oval 8"/>
          <p:cNvSpPr/>
          <p:nvPr/>
        </p:nvSpPr>
        <p:spPr>
          <a:xfrm>
            <a:off x="8138160" y="1325880"/>
            <a:ext cx="960120" cy="9601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API</a:t>
            </a:r>
          </a:p>
        </p:txBody>
      </p:sp>
      <p:sp>
        <p:nvSpPr>
          <p:cNvPr id="10" name="Oval 9"/>
          <p:cNvSpPr/>
          <p:nvPr/>
        </p:nvSpPr>
        <p:spPr>
          <a:xfrm>
            <a:off x="9646920" y="2331720"/>
            <a:ext cx="960120" cy="9601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9E0B"/>
                </a:solidFill>
                <a:latin typeface="Calibri"/>
              </a:rPr>
              <a:t>CI</a:t>
            </a:r>
          </a:p>
        </p:txBody>
      </p:sp>
      <p:sp>
        <p:nvSpPr>
          <p:cNvPr id="11" name="Oval 10"/>
          <p:cNvSpPr/>
          <p:nvPr/>
        </p:nvSpPr>
        <p:spPr>
          <a:xfrm>
            <a:off x="8138160" y="3337560"/>
            <a:ext cx="960120" cy="9601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DB</a:t>
            </a:r>
          </a:p>
        </p:txBody>
      </p:sp>
      <p:sp>
        <p:nvSpPr>
          <p:cNvPr id="12" name="Oval 11"/>
          <p:cNvSpPr/>
          <p:nvPr/>
        </p:nvSpPr>
        <p:spPr>
          <a:xfrm>
            <a:off x="9646920" y="4343400"/>
            <a:ext cx="960120" cy="96012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F4444"/>
                </a:solidFill>
                <a:latin typeface="Calibri"/>
              </a:rPr>
              <a:t>OPS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1810512"/>
            <a:ext cx="548640" cy="79552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098280" y="2880360"/>
            <a:ext cx="548640" cy="941831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98280" y="3822191"/>
            <a:ext cx="548640" cy="731521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35640" y="64373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87587"/>
                </a:solidFill>
                <a:latin typeface="Calibr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373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87587"/>
                </a:solidFill>
                <a:latin typeface="Calibri"/>
              </a:rPr>
              <a:t>Backend-DevOps разработка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