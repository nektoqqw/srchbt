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918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49808" y="658368"/>
            <a:ext cx="1965960" cy="384048"/>
          </a:xfrm>
          <a:prstGeom prst="round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200" b="1">
                <a:solidFill>
                  <a:srgbClr val="2563EB"/>
                </a:solidFill>
                <a:latin typeface="Calibri"/>
              </a:rPr>
              <a:t>ИНДИВИДУАЛЬНЫЙ ПРОЕКТ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243584"/>
            <a:ext cx="7498079" cy="1261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141D2B"/>
                </a:solidFill>
                <a:latin typeface="Calibri"/>
              </a:rPr>
              <a:t>Backend-DevOps
разработка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2706624"/>
            <a:ext cx="69037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5748B"/>
                </a:solidFill>
                <a:latin typeface="Calibri"/>
              </a:rPr>
              <a:t>Путь от серверного кода до стабильного веб-сервиса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3767328"/>
            <a:ext cx="5285232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4005072"/>
            <a:ext cx="4617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2F3B4F"/>
                </a:solidFill>
                <a:latin typeface="Calibri"/>
              </a:rPr>
              <a:t>Проект выполнил: Назаров Иван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4407408"/>
            <a:ext cx="4617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2F3B4F"/>
                </a:solidFill>
                <a:latin typeface="Calibri"/>
              </a:rPr>
              <a:t>Группа: веб251з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4809744"/>
            <a:ext cx="4617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2F3B4F"/>
                </a:solidFill>
                <a:latin typeface="Calibri"/>
              </a:rPr>
              <a:t>Город Кемерово | 14.05.2026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998464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5748B"/>
                </a:solidFill>
                <a:latin typeface="Calibri"/>
              </a:rPr>
              <a:t>Электронная презентация для публичной защиты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52360" y="960120"/>
            <a:ext cx="3520440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1298448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141D2B"/>
                </a:solidFill>
                <a:latin typeface="Calibri"/>
              </a:rPr>
              <a:t>Веб-сервис</a:t>
            </a:r>
          </a:p>
        </p:txBody>
      </p:sp>
      <p:sp>
        <p:nvSpPr>
          <p:cNvPr id="13" name="Oval 12"/>
          <p:cNvSpPr/>
          <p:nvPr/>
        </p:nvSpPr>
        <p:spPr>
          <a:xfrm>
            <a:off x="7973568" y="2048256"/>
            <a:ext cx="822960" cy="82296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2563EB"/>
                </a:solidFill>
                <a:latin typeface="Calibri"/>
              </a:rPr>
              <a:t>API</a:t>
            </a:r>
          </a:p>
        </p:txBody>
      </p:sp>
      <p:sp>
        <p:nvSpPr>
          <p:cNvPr id="14" name="Oval 13"/>
          <p:cNvSpPr/>
          <p:nvPr/>
        </p:nvSpPr>
        <p:spPr>
          <a:xfrm>
            <a:off x="9528048" y="2048256"/>
            <a:ext cx="822960" cy="822960"/>
          </a:xfrm>
          <a:prstGeom prst="ellipse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10A569"/>
                </a:solidFill>
                <a:latin typeface="Calibri"/>
              </a:rPr>
              <a:t>DB</a:t>
            </a:r>
          </a:p>
        </p:txBody>
      </p:sp>
      <p:sp>
        <p:nvSpPr>
          <p:cNvPr id="15" name="Oval 14"/>
          <p:cNvSpPr/>
          <p:nvPr/>
        </p:nvSpPr>
        <p:spPr>
          <a:xfrm>
            <a:off x="7973568" y="3493008"/>
            <a:ext cx="822960" cy="822960"/>
          </a:xfrm>
          <a:prstGeom prst="ellipse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D97706"/>
                </a:solidFill>
                <a:latin typeface="Calibri"/>
              </a:rPr>
              <a:t>CI</a:t>
            </a:r>
          </a:p>
        </p:txBody>
      </p:sp>
      <p:sp>
        <p:nvSpPr>
          <p:cNvPr id="16" name="Oval 15"/>
          <p:cNvSpPr/>
          <p:nvPr/>
        </p:nvSpPr>
        <p:spPr>
          <a:xfrm>
            <a:off x="9528048" y="3493008"/>
            <a:ext cx="822960" cy="822960"/>
          </a:xfrm>
          <a:prstGeom prst="ellipse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DC2626"/>
                </a:solidFill>
                <a:latin typeface="Calibri"/>
              </a:rPr>
              <a:t>OPS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796528" y="2459736"/>
            <a:ext cx="7315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394192" y="2871216"/>
            <a:ext cx="0" cy="621792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796528" y="3904487"/>
            <a:ext cx="7315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909560" y="4828032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1E40AF"/>
                </a:solidFill>
                <a:latin typeface="Calibri"/>
              </a:rPr>
              <a:t>код -&gt; сборка -&gt; запуск -&gt; поддержка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58368" y="384048"/>
            <a:ext cx="1298448" cy="310896"/>
          </a:xfrm>
          <a:prstGeom prst="round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000" b="1">
                <a:solidFill>
                  <a:srgbClr val="2563EB"/>
                </a:solidFill>
                <a:latin typeface="Calibri"/>
              </a:rPr>
              <a:t>АКТУАЛЬНОСТЬ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6384"/>
            <a:ext cx="89611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141D2B"/>
                </a:solidFill>
                <a:latin typeface="Calibri"/>
              </a:rPr>
              <a:t>Проблемное поле проекта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16736"/>
            <a:ext cx="95097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65748B"/>
                </a:solidFill>
                <a:latin typeface="Calibri"/>
              </a:rPr>
              <a:t>Почему тема важна для современной веб-разработки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08208" y="457200"/>
            <a:ext cx="7498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65748B"/>
                </a:solidFill>
                <a:latin typeface="Calibri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64224"/>
            <a:ext cx="10881360" cy="13716"/>
          </a:xfrm>
          <a:prstGeom prst="rect">
            <a:avLst/>
          </a:prstGeom>
          <a:solidFill>
            <a:srgbClr val="DEE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73952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5748B"/>
                </a:solidFill>
                <a:latin typeface="Calibri"/>
              </a:rPr>
              <a:t>Backend-DevOps разработка | Назаров Иван, веб251з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" y="1874519"/>
            <a:ext cx="5120640" cy="3520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6384" y="1874519"/>
            <a:ext cx="100584" cy="3520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" y="2075688"/>
            <a:ext cx="4663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41D2B"/>
                </a:solidFill>
                <a:latin typeface="Calibri"/>
              </a:rPr>
              <a:t>Проблемы, которые решает Backend-DevOps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" y="2560320"/>
            <a:ext cx="4617720" cy="2697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buChar char="•"/>
              <a:lnSpc>
                <a:spcPct val="103000"/>
              </a:lnSpc>
              <a:spcAft>
                <a:spcPts val="300"/>
              </a:spcAft>
              <a:defRPr sz="1700">
                <a:solidFill>
                  <a:srgbClr val="2F3B4F"/>
                </a:solidFill>
                <a:latin typeface="Calibri"/>
              </a:defRPr>
            </a:pPr>
            <a:r>
              <a:t>сервис должен отвечать быстро и без сбоев</a:t>
            </a:r>
          </a:p>
          <a:p>
            <a:pPr>
              <a:buChar char="•"/>
              <a:lnSpc>
                <a:spcPct val="103000"/>
              </a:lnSpc>
              <a:spcAft>
                <a:spcPts val="300"/>
              </a:spcAft>
              <a:defRPr sz="1700">
                <a:solidFill>
                  <a:srgbClr val="2F3B4F"/>
                </a:solidFill>
                <a:latin typeface="Calibri"/>
              </a:defRPr>
            </a:pPr>
            <a:r>
              <a:t>данные пользователя нужно хранить безопасно</a:t>
            </a:r>
          </a:p>
          <a:p>
            <a:pPr>
              <a:buChar char="•"/>
              <a:lnSpc>
                <a:spcPct val="103000"/>
              </a:lnSpc>
              <a:spcAft>
                <a:spcPts val="300"/>
              </a:spcAft>
              <a:defRPr sz="1700">
                <a:solidFill>
                  <a:srgbClr val="2F3B4F"/>
                </a:solidFill>
                <a:latin typeface="Calibri"/>
              </a:defRPr>
            </a:pPr>
            <a:r>
              <a:t>обновления нельзя выпускать «вручную наугад»</a:t>
            </a:r>
          </a:p>
          <a:p>
            <a:pPr>
              <a:buChar char="•"/>
              <a:lnSpc>
                <a:spcPct val="103000"/>
              </a:lnSpc>
              <a:spcAft>
                <a:spcPts val="300"/>
              </a:spcAft>
              <a:defRPr sz="1700">
                <a:solidFill>
                  <a:srgbClr val="2F3B4F"/>
                </a:solidFill>
                <a:latin typeface="Calibri"/>
              </a:defRPr>
            </a:pPr>
            <a:r>
              <a:t>ошибки нужно находить по логам и метрикам</a:t>
            </a:r>
          </a:p>
          <a:p>
            <a:pPr>
              <a:buChar char="•"/>
              <a:lnSpc>
                <a:spcPct val="103000"/>
              </a:lnSpc>
              <a:spcAft>
                <a:spcPts val="300"/>
              </a:spcAft>
              <a:defRPr sz="1700">
                <a:solidFill>
                  <a:srgbClr val="2F3B4F"/>
                </a:solidFill>
                <a:latin typeface="Calibri"/>
              </a:defRPr>
            </a:pPr>
            <a:r>
              <a:t>команда должна понимать, как повторить запуск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46520" y="1874519"/>
            <a:ext cx="4526280" cy="3520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39712" y="2176272"/>
            <a:ext cx="3794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41D2B"/>
                </a:solidFill>
                <a:latin typeface="Calibri"/>
              </a:rPr>
              <a:t>Ключевой вопрос проекта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39712" y="2816352"/>
            <a:ext cx="36576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1E40AF"/>
                </a:solidFill>
                <a:latin typeface="Calibri"/>
              </a:rPr>
              <a:t>Как создать backend-сервис и подготовить его к надежному запуску?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903720" y="4279392"/>
            <a:ext cx="3657600" cy="0"/>
          </a:xfrm>
          <a:prstGeom prst="line">
            <a:avLst/>
          </a:prstGeom>
          <a:ln w="25400">
            <a:solidFill>
              <a:srgbClr val="DEE6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39712" y="4572000"/>
            <a:ext cx="37490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2F3B4F"/>
                </a:solidFill>
                <a:latin typeface="Calibri"/>
              </a:rPr>
              <a:t>Ответ лежит на стыке разработки, автоматизации и эксплуатации.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58368" y="384048"/>
            <a:ext cx="1298448" cy="310896"/>
          </a:xfrm>
          <a:prstGeom prst="round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000" b="1">
                <a:solidFill>
                  <a:srgbClr val="2563EB"/>
                </a:solidFill>
                <a:latin typeface="Calibri"/>
              </a:rPr>
              <a:t>ТЕОРИЯ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6384"/>
            <a:ext cx="89611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141D2B"/>
                </a:solidFill>
                <a:latin typeface="Calibri"/>
              </a:rPr>
              <a:t>Что такое Backend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16736"/>
            <a:ext cx="95097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65748B"/>
                </a:solidFill>
                <a:latin typeface="Calibri"/>
              </a:rPr>
              <a:t>Серверная часть веб-приложения, которую пользователь обычно не видит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08208" y="457200"/>
            <a:ext cx="7498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65748B"/>
                </a:solidFill>
                <a:latin typeface="Calibri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64224"/>
            <a:ext cx="10881360" cy="13716"/>
          </a:xfrm>
          <a:prstGeom prst="rect">
            <a:avLst/>
          </a:prstGeom>
          <a:solidFill>
            <a:srgbClr val="DEE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73952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5748B"/>
                </a:solidFill>
                <a:latin typeface="Calibri"/>
              </a:rPr>
              <a:t>Backend-DevOps разработка | Назаров Иван, веб251з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1828800"/>
            <a:ext cx="489204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60704" y="2048256"/>
            <a:ext cx="438912" cy="438912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2563EB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039112"/>
            <a:ext cx="38404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41D2B"/>
                </a:solidFill>
                <a:latin typeface="Calibri"/>
              </a:rPr>
              <a:t>Бизнес-логика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64208" y="2450592"/>
            <a:ext cx="3840479" cy="3017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2F3B4F"/>
                </a:solidFill>
                <a:latin typeface="Calibri"/>
              </a:rPr>
              <a:t>правила работы сервиса: регистрация, заказы, расчеты, доступы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" y="3127248"/>
            <a:ext cx="489204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60704" y="3346704"/>
            <a:ext cx="438912" cy="438912"/>
          </a:xfrm>
          <a:prstGeom prst="ellipse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10A569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337560"/>
            <a:ext cx="38404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41D2B"/>
                </a:solidFill>
                <a:latin typeface="Calibri"/>
              </a:rPr>
              <a:t>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4208" y="3749039"/>
            <a:ext cx="3840479" cy="3017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2F3B4F"/>
                </a:solidFill>
                <a:latin typeface="Calibri"/>
              </a:rPr>
              <a:t>понятный договор между frontend, мобильным приложением и сервером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1248" y="4425696"/>
            <a:ext cx="489204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4645152"/>
            <a:ext cx="438912" cy="438912"/>
          </a:xfrm>
          <a:prstGeom prst="ellipse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D97706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4636008"/>
            <a:ext cx="38404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41D2B"/>
                </a:solidFill>
                <a:latin typeface="Calibri"/>
              </a:rPr>
              <a:t>Данные и безопасность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5047488"/>
            <a:ext cx="3840479" cy="3017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2F3B4F"/>
                </a:solidFill>
                <a:latin typeface="Calibri"/>
              </a:rPr>
              <a:t>базы данных, авторизация, валидация, защита от типовых ошибок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10528" y="1828800"/>
            <a:ext cx="4389120" cy="36393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76288" y="2157984"/>
            <a:ext cx="36118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41D2B"/>
                </a:solidFill>
                <a:latin typeface="Calibri"/>
              </a:rPr>
              <a:t>Пример запроса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67728" y="2816352"/>
            <a:ext cx="1207008" cy="786384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14032" y="2962656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2563EB"/>
                </a:solidFill>
                <a:latin typeface="Calibri"/>
              </a:rPr>
              <a:t>GET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4032" y="3273552"/>
            <a:ext cx="914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5748B"/>
                </a:solidFill>
                <a:latin typeface="Calibri"/>
              </a:rPr>
              <a:t>/users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174736" y="3209544"/>
            <a:ext cx="54864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723376" y="2816352"/>
            <a:ext cx="1417320" cy="786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69680" y="2962656"/>
            <a:ext cx="11247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41D2B"/>
                </a:solidFill>
                <a:latin typeface="Calibri"/>
              </a:rPr>
              <a:t>Backend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0" y="3273552"/>
            <a:ext cx="11247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5748B"/>
                </a:solidFill>
                <a:latin typeface="Calibri"/>
              </a:rPr>
              <a:t>проверка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509760" y="3602736"/>
            <a:ext cx="0" cy="466344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8723376" y="4069080"/>
            <a:ext cx="1417320" cy="786384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9680" y="4215384"/>
            <a:ext cx="11247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0A569"/>
                </a:solidFill>
                <a:latin typeface="Calibri"/>
              </a:rPr>
              <a:t>JSON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9680" y="4526280"/>
            <a:ext cx="11247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5748B"/>
                </a:solidFill>
                <a:latin typeface="Calibri"/>
              </a:rPr>
              <a:t>ответ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76288" y="5102352"/>
            <a:ext cx="3611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2F3B4F"/>
                </a:solidFill>
                <a:latin typeface="Calibri"/>
              </a:rPr>
              <a:t>Результат: клиент получает данные в едином формате.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58368" y="384048"/>
            <a:ext cx="1298448" cy="310896"/>
          </a:xfrm>
          <a:prstGeom prst="round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000" b="1">
                <a:solidFill>
                  <a:srgbClr val="2563EB"/>
                </a:solidFill>
                <a:latin typeface="Calibri"/>
              </a:rPr>
              <a:t>ТЕОРИЯ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6384"/>
            <a:ext cx="89611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141D2B"/>
                </a:solidFill>
                <a:latin typeface="Calibri"/>
              </a:rPr>
              <a:t>Что такое DevOps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16736"/>
            <a:ext cx="95097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65748B"/>
                </a:solidFill>
                <a:latin typeface="Calibri"/>
              </a:rPr>
              <a:t>Подход, который соединяет разработку, тестирование и эксплуатацию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08208" y="457200"/>
            <a:ext cx="7498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65748B"/>
                </a:solidFill>
                <a:latin typeface="Calibri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64224"/>
            <a:ext cx="10881360" cy="13716"/>
          </a:xfrm>
          <a:prstGeom prst="rect">
            <a:avLst/>
          </a:prstGeom>
          <a:solidFill>
            <a:srgbClr val="DEE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73952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5748B"/>
                </a:solidFill>
                <a:latin typeface="Calibri"/>
              </a:rPr>
              <a:t>Backend-DevOps разработка | Назаров Иван, веб251з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847088"/>
            <a:ext cx="3154680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1847088"/>
            <a:ext cx="100584" cy="3429000"/>
          </a:xfrm>
          <a:prstGeom prst="rect">
            <a:avLst/>
          </a:prstGeom>
          <a:solidFill>
            <a:srgbClr val="10A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2048256"/>
            <a:ext cx="2697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41D2B"/>
                </a:solidFill>
                <a:latin typeface="Calibri"/>
              </a:rPr>
              <a:t>Идея DevOps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2532888"/>
            <a:ext cx="2651760" cy="2606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buChar char="•"/>
              <a:lnSpc>
                <a:spcPct val="103000"/>
              </a:lnSpc>
              <a:spcAft>
                <a:spcPts val="300"/>
              </a:spcAft>
              <a:defRPr sz="1700">
                <a:solidFill>
                  <a:srgbClr val="2F3B4F"/>
                </a:solidFill>
                <a:latin typeface="Calibri"/>
              </a:defRPr>
            </a:pPr>
            <a:r>
              <a:t>меньше ручных действий</a:t>
            </a:r>
          </a:p>
          <a:p>
            <a:pPr>
              <a:buChar char="•"/>
              <a:lnSpc>
                <a:spcPct val="103000"/>
              </a:lnSpc>
              <a:spcAft>
                <a:spcPts val="300"/>
              </a:spcAft>
              <a:defRPr sz="1700">
                <a:solidFill>
                  <a:srgbClr val="2F3B4F"/>
                </a:solidFill>
                <a:latin typeface="Calibri"/>
              </a:defRPr>
            </a:pPr>
            <a:r>
              <a:t>быстрее обратная связь</a:t>
            </a:r>
          </a:p>
          <a:p>
            <a:pPr>
              <a:buChar char="•"/>
              <a:lnSpc>
                <a:spcPct val="103000"/>
              </a:lnSpc>
              <a:spcAft>
                <a:spcPts val="300"/>
              </a:spcAft>
              <a:defRPr sz="1700">
                <a:solidFill>
                  <a:srgbClr val="2F3B4F"/>
                </a:solidFill>
                <a:latin typeface="Calibri"/>
              </a:defRPr>
            </a:pPr>
            <a:r>
              <a:t>прозрачный процесс релиза</a:t>
            </a:r>
          </a:p>
          <a:p>
            <a:pPr>
              <a:buChar char="•"/>
              <a:lnSpc>
                <a:spcPct val="103000"/>
              </a:lnSpc>
              <a:spcAft>
                <a:spcPts val="300"/>
              </a:spcAft>
              <a:defRPr sz="1700">
                <a:solidFill>
                  <a:srgbClr val="2F3B4F"/>
                </a:solidFill>
                <a:latin typeface="Calibri"/>
              </a:defRPr>
            </a:pPr>
            <a:r>
              <a:t>ответственность за работу сервиса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26280" y="1847088"/>
            <a:ext cx="3154680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26280" y="1847088"/>
            <a:ext cx="100584" cy="3429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82312" y="2048256"/>
            <a:ext cx="2697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41D2B"/>
                </a:solidFill>
                <a:latin typeface="Calibri"/>
              </a:rPr>
              <a:t>Инструменты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2532888"/>
            <a:ext cx="2651760" cy="2606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buChar char="•"/>
              <a:lnSpc>
                <a:spcPct val="103000"/>
              </a:lnSpc>
              <a:spcAft>
                <a:spcPts val="300"/>
              </a:spcAft>
              <a:defRPr sz="1700">
                <a:solidFill>
                  <a:srgbClr val="2F3B4F"/>
                </a:solidFill>
                <a:latin typeface="Calibri"/>
              </a:defRPr>
            </a:pPr>
            <a:r>
              <a:t>Git и code review</a:t>
            </a:r>
          </a:p>
          <a:p>
            <a:pPr>
              <a:buChar char="•"/>
              <a:lnSpc>
                <a:spcPct val="103000"/>
              </a:lnSpc>
              <a:spcAft>
                <a:spcPts val="300"/>
              </a:spcAft>
              <a:defRPr sz="1700">
                <a:solidFill>
                  <a:srgbClr val="2F3B4F"/>
                </a:solidFill>
                <a:latin typeface="Calibri"/>
              </a:defRPr>
            </a:pPr>
            <a:r>
              <a:t>Docker-контейнеры</a:t>
            </a:r>
          </a:p>
          <a:p>
            <a:pPr>
              <a:buChar char="•"/>
              <a:lnSpc>
                <a:spcPct val="103000"/>
              </a:lnSpc>
              <a:spcAft>
                <a:spcPts val="300"/>
              </a:spcAft>
              <a:defRPr sz="1700">
                <a:solidFill>
                  <a:srgbClr val="2F3B4F"/>
                </a:solidFill>
                <a:latin typeface="Calibri"/>
              </a:defRPr>
            </a:pPr>
            <a:r>
              <a:t>CI/CD pipeline</a:t>
            </a:r>
          </a:p>
          <a:p>
            <a:pPr>
              <a:buChar char="•"/>
              <a:lnSpc>
                <a:spcPct val="103000"/>
              </a:lnSpc>
              <a:spcAft>
                <a:spcPts val="300"/>
              </a:spcAft>
              <a:defRPr sz="1700">
                <a:solidFill>
                  <a:srgbClr val="2F3B4F"/>
                </a:solidFill>
                <a:latin typeface="Calibri"/>
              </a:defRPr>
            </a:pPr>
            <a:r>
              <a:t>мониторинг и логи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847088"/>
            <a:ext cx="3154680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1847088"/>
            <a:ext cx="100584" cy="3429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85632" y="2048256"/>
            <a:ext cx="2697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41D2B"/>
                </a:solidFill>
                <a:latin typeface="Calibri"/>
              </a:rPr>
              <a:t>Результат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22208" y="2532888"/>
            <a:ext cx="2651760" cy="2606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buChar char="•"/>
              <a:lnSpc>
                <a:spcPct val="103000"/>
              </a:lnSpc>
              <a:spcAft>
                <a:spcPts val="300"/>
              </a:spcAft>
              <a:defRPr sz="1700">
                <a:solidFill>
                  <a:srgbClr val="2F3B4F"/>
                </a:solidFill>
                <a:latin typeface="Calibri"/>
              </a:defRPr>
            </a:pPr>
            <a:r>
              <a:t>повторяемый запуск</a:t>
            </a:r>
          </a:p>
          <a:p>
            <a:pPr>
              <a:buChar char="•"/>
              <a:lnSpc>
                <a:spcPct val="103000"/>
              </a:lnSpc>
              <a:spcAft>
                <a:spcPts val="300"/>
              </a:spcAft>
              <a:defRPr sz="1700">
                <a:solidFill>
                  <a:srgbClr val="2F3B4F"/>
                </a:solidFill>
                <a:latin typeface="Calibri"/>
              </a:defRPr>
            </a:pPr>
            <a:r>
              <a:t>меньше ошибок на релизе</a:t>
            </a:r>
          </a:p>
          <a:p>
            <a:pPr>
              <a:buChar char="•"/>
              <a:lnSpc>
                <a:spcPct val="103000"/>
              </a:lnSpc>
              <a:spcAft>
                <a:spcPts val="300"/>
              </a:spcAft>
              <a:defRPr sz="1700">
                <a:solidFill>
                  <a:srgbClr val="2F3B4F"/>
                </a:solidFill>
                <a:latin typeface="Calibri"/>
              </a:defRPr>
            </a:pPr>
            <a:r>
              <a:t>быстрее поиск причин сбоя</a:t>
            </a:r>
          </a:p>
          <a:p>
            <a:pPr>
              <a:buChar char="•"/>
              <a:lnSpc>
                <a:spcPct val="103000"/>
              </a:lnSpc>
              <a:spcAft>
                <a:spcPts val="300"/>
              </a:spcAft>
              <a:defRPr sz="1700">
                <a:solidFill>
                  <a:srgbClr val="2F3B4F"/>
                </a:solidFill>
                <a:latin typeface="Calibri"/>
              </a:defRPr>
            </a:pPr>
            <a:r>
              <a:t>удобнее сопровождение проекта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58368" y="384048"/>
            <a:ext cx="1298448" cy="310896"/>
          </a:xfrm>
          <a:prstGeom prst="round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000" b="1">
                <a:solidFill>
                  <a:srgbClr val="2563EB"/>
                </a:solidFill>
                <a:latin typeface="Calibri"/>
              </a:rPr>
              <a:t>ТЕОРИЯ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6384"/>
            <a:ext cx="89611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141D2B"/>
                </a:solidFill>
                <a:latin typeface="Calibri"/>
              </a:rPr>
              <a:t>Архитектура веб-сервиса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16736"/>
            <a:ext cx="95097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65748B"/>
                </a:solidFill>
                <a:latin typeface="Calibri"/>
              </a:rPr>
              <a:t>Как проходит запрос пользователя и где работают Backend и DevOps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08208" y="457200"/>
            <a:ext cx="7498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65748B"/>
                </a:solidFill>
                <a:latin typeface="Calibri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64224"/>
            <a:ext cx="10881360" cy="13716"/>
          </a:xfrm>
          <a:prstGeom prst="rect">
            <a:avLst/>
          </a:prstGeom>
          <a:solidFill>
            <a:srgbClr val="DEE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73952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5748B"/>
                </a:solidFill>
                <a:latin typeface="Calibri"/>
              </a:rPr>
              <a:t>Backend-DevOps разработка | Назаров Иван, веб251з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2240280"/>
            <a:ext cx="1298448" cy="82296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386584"/>
            <a:ext cx="100583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2563EB"/>
                </a:solidFill>
                <a:latin typeface="Calibri"/>
              </a:rPr>
              <a:t>Пользователь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697480"/>
            <a:ext cx="100583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5748B"/>
                </a:solidFill>
                <a:latin typeface="Calibri"/>
              </a:rPr>
              <a:t>браузер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87168" y="2240280"/>
            <a:ext cx="1298448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33472" y="2386584"/>
            <a:ext cx="100583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41D2B"/>
                </a:solidFill>
                <a:latin typeface="Calibri"/>
              </a:rPr>
              <a:t>Frontend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33472" y="2697480"/>
            <a:ext cx="100583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5748B"/>
                </a:solidFill>
                <a:latin typeface="Calibri"/>
              </a:rPr>
              <a:t>интерфейс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24528" y="2240280"/>
            <a:ext cx="1298448" cy="822960"/>
          </a:xfrm>
          <a:prstGeom prst="roundRect">
            <a:avLst/>
          </a:prstGeom>
          <a:solidFill>
            <a:srgbClr val="CFFAFE"/>
          </a:solidFill>
          <a:ln w="12700"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70832" y="2386584"/>
            <a:ext cx="100583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891B2"/>
                </a:solidFill>
                <a:latin typeface="Calibri"/>
              </a:rPr>
              <a:t>API Gateway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70832" y="2697480"/>
            <a:ext cx="100583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5748B"/>
                </a:solidFill>
                <a:latin typeface="Calibri"/>
              </a:rPr>
              <a:t>маршрут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44768" y="2240280"/>
            <a:ext cx="1298448" cy="82296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072" y="2386584"/>
            <a:ext cx="100583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2563EB"/>
                </a:solidFill>
                <a:latin typeface="Calibri"/>
              </a:rPr>
              <a:t>Backend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072" y="2697480"/>
            <a:ext cx="100583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5748B"/>
                </a:solidFill>
                <a:latin typeface="Calibri"/>
              </a:rPr>
              <a:t>логика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73568" y="2240280"/>
            <a:ext cx="1298448" cy="82296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19872" y="2386584"/>
            <a:ext cx="100583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0A569"/>
                </a:solidFill>
                <a:latin typeface="Calibri"/>
              </a:rPr>
              <a:t>PostgreSQL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19872" y="2697480"/>
            <a:ext cx="100583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5748B"/>
                </a:solidFill>
                <a:latin typeface="Calibri"/>
              </a:rPr>
              <a:t>данные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802368" y="2240280"/>
            <a:ext cx="1298448" cy="82296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48672" y="2386584"/>
            <a:ext cx="100583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D97706"/>
                </a:solidFill>
                <a:latin typeface="Calibri"/>
              </a:rPr>
              <a:t>Redis/Queue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48672" y="2697480"/>
            <a:ext cx="100583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5748B"/>
                </a:solidFill>
                <a:latin typeface="Calibri"/>
              </a:rPr>
              <a:t>ускорение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48256" y="2651760"/>
            <a:ext cx="43891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3785615" y="2651760"/>
            <a:ext cx="43891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22976" y="2651760"/>
            <a:ext cx="43891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443216" y="2651760"/>
            <a:ext cx="43891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9272016" y="2651760"/>
            <a:ext cx="43891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960120" y="3977639"/>
            <a:ext cx="24688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41D2B"/>
                </a:solidFill>
                <a:latin typeface="Calibri"/>
              </a:rPr>
              <a:t>Контур релиза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91840" y="3913632"/>
            <a:ext cx="1024128" cy="420624"/>
          </a:xfrm>
          <a:prstGeom prst="round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100" b="1">
                <a:solidFill>
                  <a:srgbClr val="2563EB"/>
                </a:solidFill>
                <a:latin typeface="Calibri"/>
              </a:rPr>
              <a:t>COMMIT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0" y="3913632"/>
            <a:ext cx="1024128" cy="420624"/>
          </a:xfrm>
          <a:prstGeom prst="round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100" b="1">
                <a:solidFill>
                  <a:srgbClr val="2563EB"/>
                </a:solidFill>
                <a:latin typeface="Calibri"/>
              </a:rPr>
              <a:t>TESTS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852160" y="3913632"/>
            <a:ext cx="1024128" cy="420624"/>
          </a:xfrm>
          <a:prstGeom prst="round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100" b="1">
                <a:solidFill>
                  <a:srgbClr val="2563EB"/>
                </a:solidFill>
                <a:latin typeface="Calibri"/>
              </a:rPr>
              <a:t>BUILD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32320" y="3913632"/>
            <a:ext cx="1024128" cy="420624"/>
          </a:xfrm>
          <a:prstGeom prst="round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100" b="1">
                <a:solidFill>
                  <a:srgbClr val="2563EB"/>
                </a:solidFill>
                <a:latin typeface="Calibri"/>
              </a:rPr>
              <a:t>DEPLOY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412480" y="3913632"/>
            <a:ext cx="1024128" cy="420624"/>
          </a:xfrm>
          <a:prstGeom prst="round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100" b="1">
                <a:solidFill>
                  <a:srgbClr val="10A569"/>
                </a:solidFill>
                <a:latin typeface="Calibri"/>
              </a:rPr>
              <a:t>MONITOR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315968" y="4123944"/>
            <a:ext cx="256032" cy="0"/>
          </a:xfrm>
          <a:prstGeom prst="line">
            <a:avLst/>
          </a:prstGeom>
          <a:ln w="25400">
            <a:solidFill>
              <a:srgbClr val="DEE6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5596128" y="4123944"/>
            <a:ext cx="256032" cy="0"/>
          </a:xfrm>
          <a:prstGeom prst="line">
            <a:avLst/>
          </a:prstGeom>
          <a:ln w="25400">
            <a:solidFill>
              <a:srgbClr val="DEE6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876288" y="4123944"/>
            <a:ext cx="256032" cy="0"/>
          </a:xfrm>
          <a:prstGeom prst="line">
            <a:avLst/>
          </a:prstGeom>
          <a:ln w="25400">
            <a:solidFill>
              <a:srgbClr val="DEE6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8156448" y="4123944"/>
            <a:ext cx="256032" cy="0"/>
          </a:xfrm>
          <a:prstGeom prst="line">
            <a:avLst/>
          </a:prstGeom>
          <a:ln w="25400">
            <a:solidFill>
              <a:srgbClr val="DEE6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960120" y="4983480"/>
            <a:ext cx="9966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2F3B4F"/>
                </a:solidFill>
                <a:latin typeface="Calibri"/>
              </a:rPr>
              <a:t>Backend обрабатывает данные. DevOps делает так, чтобы новая версия попала на сервер контролируемо и была наблюдаемой.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58368" y="384048"/>
            <a:ext cx="1298448" cy="310896"/>
          </a:xfrm>
          <a:prstGeom prst="round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000" b="1">
                <a:solidFill>
                  <a:srgbClr val="2563EB"/>
                </a:solidFill>
                <a:latin typeface="Calibri"/>
              </a:rPr>
              <a:t>ПРАКТИКА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6384"/>
            <a:ext cx="89611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141D2B"/>
                </a:solidFill>
                <a:latin typeface="Calibri"/>
              </a:rPr>
              <a:t>Цель и результат учебного проекта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16736"/>
            <a:ext cx="95097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65748B"/>
                </a:solidFill>
                <a:latin typeface="Calibri"/>
              </a:rPr>
              <a:t>Практическая часть показывает полный путь от идеи до запуска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08208" y="457200"/>
            <a:ext cx="7498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65748B"/>
                </a:solidFill>
                <a:latin typeface="Calibri"/>
              </a:rPr>
              <a:t>06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64224"/>
            <a:ext cx="10881360" cy="13716"/>
          </a:xfrm>
          <a:prstGeom prst="rect">
            <a:avLst/>
          </a:prstGeom>
          <a:solidFill>
            <a:srgbClr val="DEE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73952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5748B"/>
                </a:solidFill>
                <a:latin typeface="Calibri"/>
              </a:rPr>
              <a:t>Backend-DevOps разработка | Назаров Иван, веб251з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828800"/>
            <a:ext cx="448056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214884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41D2B"/>
                </a:solidFill>
                <a:latin typeface="Calibri"/>
              </a:rPr>
              <a:t>Цель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788920"/>
            <a:ext cx="3703320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2F3B4F"/>
                </a:solidFill>
                <a:latin typeface="Calibri"/>
              </a:rPr>
              <a:t>Разработать серверную часть учебного веб-сервиса и подготовить понятный DevOps-сценарий его развертывания.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4462272"/>
            <a:ext cx="36576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E40AF"/>
                </a:solidFill>
                <a:latin typeface="Calibri"/>
              </a:rPr>
              <a:t>Фокус: надежность, повторяемость, понятная структура.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06440" y="1828800"/>
            <a:ext cx="251460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806440" y="1828800"/>
            <a:ext cx="100584" cy="3474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62472" y="2029968"/>
            <a:ext cx="2057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41D2B"/>
                </a:solidFill>
                <a:latin typeface="Calibri"/>
              </a:rPr>
              <a:t>Backend-часть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9048" y="2514600"/>
            <a:ext cx="201168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buChar char="•"/>
              <a:lnSpc>
                <a:spcPct val="103000"/>
              </a:lnSpc>
              <a:spcAft>
                <a:spcPts val="300"/>
              </a:spcAft>
              <a:defRPr sz="1700">
                <a:solidFill>
                  <a:srgbClr val="2F3B4F"/>
                </a:solidFill>
                <a:latin typeface="Calibri"/>
              </a:defRPr>
            </a:pPr>
            <a:r>
              <a:t>API-эндпоинты</a:t>
            </a:r>
          </a:p>
          <a:p>
            <a:pPr>
              <a:buChar char="•"/>
              <a:lnSpc>
                <a:spcPct val="103000"/>
              </a:lnSpc>
              <a:spcAft>
                <a:spcPts val="300"/>
              </a:spcAft>
              <a:defRPr sz="1700">
                <a:solidFill>
                  <a:srgbClr val="2F3B4F"/>
                </a:solidFill>
                <a:latin typeface="Calibri"/>
              </a:defRPr>
            </a:pPr>
            <a:r>
              <a:t>структура данных</a:t>
            </a:r>
          </a:p>
          <a:p>
            <a:pPr>
              <a:buChar char="•"/>
              <a:lnSpc>
                <a:spcPct val="103000"/>
              </a:lnSpc>
              <a:spcAft>
                <a:spcPts val="300"/>
              </a:spcAft>
              <a:defRPr sz="1700">
                <a:solidFill>
                  <a:srgbClr val="2F3B4F"/>
                </a:solidFill>
                <a:latin typeface="Calibri"/>
              </a:defRPr>
            </a:pPr>
            <a:r>
              <a:t>валидация</a:t>
            </a:r>
          </a:p>
          <a:p>
            <a:pPr>
              <a:buChar char="•"/>
              <a:lnSpc>
                <a:spcPct val="103000"/>
              </a:lnSpc>
              <a:spcAft>
                <a:spcPts val="300"/>
              </a:spcAft>
              <a:defRPr sz="1700">
                <a:solidFill>
                  <a:srgbClr val="2F3B4F"/>
                </a:solidFill>
                <a:latin typeface="Calibri"/>
              </a:defRPr>
            </a:pPr>
            <a:r>
              <a:t>обработка ошибок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23960" y="1828800"/>
            <a:ext cx="251460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823960" y="1828800"/>
            <a:ext cx="100584" cy="3474720"/>
          </a:xfrm>
          <a:prstGeom prst="rect">
            <a:avLst/>
          </a:prstGeom>
          <a:solidFill>
            <a:srgbClr val="10A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9992" y="2029968"/>
            <a:ext cx="2057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41D2B"/>
                </a:solidFill>
                <a:latin typeface="Calibri"/>
              </a:rPr>
              <a:t>DevOps-часть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16568" y="2514600"/>
            <a:ext cx="201168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buChar char="•"/>
              <a:lnSpc>
                <a:spcPct val="103000"/>
              </a:lnSpc>
              <a:spcAft>
                <a:spcPts val="300"/>
              </a:spcAft>
              <a:defRPr sz="1700">
                <a:solidFill>
                  <a:srgbClr val="2F3B4F"/>
                </a:solidFill>
                <a:latin typeface="Calibri"/>
              </a:defRPr>
            </a:pPr>
            <a:r>
              <a:t>Docker-запуск</a:t>
            </a:r>
          </a:p>
          <a:p>
            <a:pPr>
              <a:buChar char="•"/>
              <a:lnSpc>
                <a:spcPct val="103000"/>
              </a:lnSpc>
              <a:spcAft>
                <a:spcPts val="300"/>
              </a:spcAft>
              <a:defRPr sz="1700">
                <a:solidFill>
                  <a:srgbClr val="2F3B4F"/>
                </a:solidFill>
                <a:latin typeface="Calibri"/>
              </a:defRPr>
            </a:pPr>
            <a:r>
              <a:t>переменные среды</a:t>
            </a:r>
          </a:p>
          <a:p>
            <a:pPr>
              <a:buChar char="•"/>
              <a:lnSpc>
                <a:spcPct val="103000"/>
              </a:lnSpc>
              <a:spcAft>
                <a:spcPts val="300"/>
              </a:spcAft>
              <a:defRPr sz="1700">
                <a:solidFill>
                  <a:srgbClr val="2F3B4F"/>
                </a:solidFill>
                <a:latin typeface="Calibri"/>
              </a:defRPr>
            </a:pPr>
            <a:r>
              <a:t>CI-проверки</a:t>
            </a:r>
          </a:p>
          <a:p>
            <a:pPr>
              <a:buChar char="•"/>
              <a:lnSpc>
                <a:spcPct val="103000"/>
              </a:lnSpc>
              <a:spcAft>
                <a:spcPts val="300"/>
              </a:spcAft>
              <a:defRPr sz="1700">
                <a:solidFill>
                  <a:srgbClr val="2F3B4F"/>
                </a:solidFill>
                <a:latin typeface="Calibri"/>
              </a:defRPr>
            </a:pPr>
            <a:r>
              <a:t>логи и инструкция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58368" y="384048"/>
            <a:ext cx="1298448" cy="310896"/>
          </a:xfrm>
          <a:prstGeom prst="round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000" b="1">
                <a:solidFill>
                  <a:srgbClr val="2563EB"/>
                </a:solidFill>
                <a:latin typeface="Calibri"/>
              </a:rPr>
              <a:t>ПРАКТИКА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6384"/>
            <a:ext cx="89611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141D2B"/>
                </a:solidFill>
                <a:latin typeface="Calibri"/>
              </a:rPr>
              <a:t>Этапы выполнения работы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16736"/>
            <a:ext cx="95097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65748B"/>
                </a:solidFill>
                <a:latin typeface="Calibri"/>
              </a:rPr>
              <a:t>Последовательность, по которой строился проект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08208" y="457200"/>
            <a:ext cx="7498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65748B"/>
                </a:solidFill>
                <a:latin typeface="Calibri"/>
              </a:rPr>
              <a:t>07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64224"/>
            <a:ext cx="10881360" cy="13716"/>
          </a:xfrm>
          <a:prstGeom prst="rect">
            <a:avLst/>
          </a:prstGeom>
          <a:solidFill>
            <a:srgbClr val="DEE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73952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5748B"/>
                </a:solidFill>
                <a:latin typeface="Calibri"/>
              </a:rPr>
              <a:t>Backend-DevOps разработка | Назаров Иван, веб251з</a:t>
            </a:r>
          </a:p>
        </p:txBody>
      </p:sp>
      <p:sp>
        <p:nvSpPr>
          <p:cNvPr id="9" name="Oval 8"/>
          <p:cNvSpPr/>
          <p:nvPr/>
        </p:nvSpPr>
        <p:spPr>
          <a:xfrm>
            <a:off x="804672" y="1965960"/>
            <a:ext cx="786384" cy="786384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2563EB"/>
                </a:solidFill>
                <a:latin typeface="Calibri"/>
              </a:rPr>
              <a:t>01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591056" y="2359152"/>
            <a:ext cx="630936" cy="0"/>
          </a:xfrm>
          <a:prstGeom prst="line">
            <a:avLst/>
          </a:prstGeom>
          <a:ln w="25400">
            <a:solidFill>
              <a:srgbClr val="DEE6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93776" y="3054096"/>
            <a:ext cx="1417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141D2B"/>
                </a:solidFill>
                <a:latin typeface="Calibri"/>
              </a:rPr>
              <a:t>Требования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1" y="3547872"/>
            <a:ext cx="18288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>
                <a:solidFill>
                  <a:srgbClr val="2F3B4F"/>
                </a:solidFill>
                <a:latin typeface="Calibri"/>
              </a:rPr>
              <a:t>что должен делать сервис</a:t>
            </a:r>
          </a:p>
        </p:txBody>
      </p:sp>
      <p:sp>
        <p:nvSpPr>
          <p:cNvPr id="13" name="Oval 12"/>
          <p:cNvSpPr/>
          <p:nvPr/>
        </p:nvSpPr>
        <p:spPr>
          <a:xfrm>
            <a:off x="3035808" y="1965960"/>
            <a:ext cx="786384" cy="786384"/>
          </a:xfrm>
          <a:prstGeom prst="ellipse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10A569"/>
                </a:solidFill>
                <a:latin typeface="Calibri"/>
              </a:rPr>
              <a:t>02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822191" y="2359152"/>
            <a:ext cx="630937" cy="0"/>
          </a:xfrm>
          <a:prstGeom prst="line">
            <a:avLst/>
          </a:prstGeom>
          <a:ln w="25400">
            <a:solidFill>
              <a:srgbClr val="DEE6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724912" y="3054096"/>
            <a:ext cx="1417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141D2B"/>
                </a:solidFill>
                <a:latin typeface="Calibri"/>
              </a:rPr>
              <a:t>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32887" y="3547872"/>
            <a:ext cx="18288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>
                <a:solidFill>
                  <a:srgbClr val="2F3B4F"/>
                </a:solidFill>
                <a:latin typeface="Calibri"/>
              </a:rPr>
              <a:t>эндпоинты, ответы, ошибки</a:t>
            </a:r>
          </a:p>
        </p:txBody>
      </p:sp>
      <p:sp>
        <p:nvSpPr>
          <p:cNvPr id="17" name="Oval 16"/>
          <p:cNvSpPr/>
          <p:nvPr/>
        </p:nvSpPr>
        <p:spPr>
          <a:xfrm>
            <a:off x="5266944" y="1965960"/>
            <a:ext cx="786384" cy="786384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2563EB"/>
                </a:solidFill>
                <a:latin typeface="Calibri"/>
              </a:rPr>
              <a:t>03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053328" y="2359152"/>
            <a:ext cx="630936" cy="0"/>
          </a:xfrm>
          <a:prstGeom prst="line">
            <a:avLst/>
          </a:prstGeom>
          <a:ln w="25400">
            <a:solidFill>
              <a:srgbClr val="DEE6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956048" y="3054096"/>
            <a:ext cx="1417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141D2B"/>
                </a:solidFill>
                <a:latin typeface="Calibri"/>
              </a:rPr>
              <a:t>Данные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64024" y="3547872"/>
            <a:ext cx="18288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>
                <a:solidFill>
                  <a:srgbClr val="2F3B4F"/>
                </a:solidFill>
                <a:latin typeface="Calibri"/>
              </a:rPr>
              <a:t>модели и связи</a:t>
            </a:r>
          </a:p>
        </p:txBody>
      </p:sp>
      <p:sp>
        <p:nvSpPr>
          <p:cNvPr id="21" name="Oval 20"/>
          <p:cNvSpPr/>
          <p:nvPr/>
        </p:nvSpPr>
        <p:spPr>
          <a:xfrm>
            <a:off x="7498080" y="1965960"/>
            <a:ext cx="786384" cy="786384"/>
          </a:xfrm>
          <a:prstGeom prst="ellipse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10A569"/>
                </a:solidFill>
                <a:latin typeface="Calibri"/>
              </a:rPr>
              <a:t>04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284464" y="2359152"/>
            <a:ext cx="630936" cy="0"/>
          </a:xfrm>
          <a:prstGeom prst="line">
            <a:avLst/>
          </a:prstGeom>
          <a:ln w="25400">
            <a:solidFill>
              <a:srgbClr val="DEE6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187184" y="3054096"/>
            <a:ext cx="1417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141D2B"/>
                </a:solidFill>
                <a:latin typeface="Calibri"/>
              </a:rPr>
              <a:t>Код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3547872"/>
            <a:ext cx="18288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>
                <a:solidFill>
                  <a:srgbClr val="2F3B4F"/>
                </a:solidFill>
                <a:latin typeface="Calibri"/>
              </a:rPr>
              <a:t>логика, проверки, тесты</a:t>
            </a:r>
          </a:p>
        </p:txBody>
      </p:sp>
      <p:sp>
        <p:nvSpPr>
          <p:cNvPr id="25" name="Oval 24"/>
          <p:cNvSpPr/>
          <p:nvPr/>
        </p:nvSpPr>
        <p:spPr>
          <a:xfrm>
            <a:off x="9729216" y="1965960"/>
            <a:ext cx="786384" cy="786384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2563EB"/>
                </a:solidFill>
                <a:latin typeface="Calibri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3054096"/>
            <a:ext cx="1417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141D2B"/>
                </a:solidFill>
                <a:latin typeface="Calibri"/>
              </a:rPr>
              <a:t>Запуск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26296" y="3547872"/>
            <a:ext cx="18288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>
                <a:solidFill>
                  <a:srgbClr val="2F3B4F"/>
                </a:solidFill>
                <a:latin typeface="Calibri"/>
              </a:rPr>
              <a:t>контейнер, конфиг, логи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234440" y="5074920"/>
            <a:ext cx="969264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554480" y="5248656"/>
            <a:ext cx="9052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1E40AF"/>
                </a:solidFill>
                <a:latin typeface="Calibri"/>
              </a:rPr>
              <a:t>Каждый этап связан с проверкой: если процесс нельзя повторить, его нужно упростить или описать.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58368" y="384048"/>
            <a:ext cx="1298448" cy="310896"/>
          </a:xfrm>
          <a:prstGeom prst="round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000" b="1">
                <a:solidFill>
                  <a:srgbClr val="2563EB"/>
                </a:solidFill>
                <a:latin typeface="Calibri"/>
              </a:rPr>
              <a:t>ПРАКТИКА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6384"/>
            <a:ext cx="89611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141D2B"/>
                </a:solidFill>
                <a:latin typeface="Calibri"/>
              </a:rPr>
              <a:t>Проектирование API и данных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16736"/>
            <a:ext cx="95097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65748B"/>
                </a:solidFill>
                <a:latin typeface="Calibri"/>
              </a:rPr>
              <a:t>Основа backend-части — понятный контракт и предсказуемые ответы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08208" y="457200"/>
            <a:ext cx="7498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65748B"/>
                </a:solidFill>
                <a:latin typeface="Calibri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64224"/>
            <a:ext cx="10881360" cy="13716"/>
          </a:xfrm>
          <a:prstGeom prst="rect">
            <a:avLst/>
          </a:prstGeom>
          <a:solidFill>
            <a:srgbClr val="DEE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73952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5748B"/>
                </a:solidFill>
                <a:latin typeface="Calibri"/>
              </a:rPr>
              <a:t>Backend-DevOps разработка | Назаров Иван, веб251з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828800"/>
            <a:ext cx="3246120" cy="3547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1828800"/>
            <a:ext cx="100584" cy="354787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2029968"/>
            <a:ext cx="2788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41D2B"/>
                </a:solidFill>
                <a:latin typeface="Calibri"/>
              </a:rPr>
              <a:t>API-контракт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2514600"/>
            <a:ext cx="2743200" cy="2724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buChar char="•"/>
              <a:lnSpc>
                <a:spcPct val="103000"/>
              </a:lnSpc>
              <a:spcAft>
                <a:spcPts val="300"/>
              </a:spcAft>
              <a:defRPr sz="1700">
                <a:solidFill>
                  <a:srgbClr val="2F3B4F"/>
                </a:solidFill>
                <a:latin typeface="Calibri"/>
              </a:defRPr>
            </a:pPr>
            <a:r>
              <a:t>методы: GET, POST, PUT, DELETE</a:t>
            </a:r>
          </a:p>
          <a:p>
            <a:pPr>
              <a:buChar char="•"/>
              <a:lnSpc>
                <a:spcPct val="103000"/>
              </a:lnSpc>
              <a:spcAft>
                <a:spcPts val="300"/>
              </a:spcAft>
              <a:defRPr sz="1700">
                <a:solidFill>
                  <a:srgbClr val="2F3B4F"/>
                </a:solidFill>
                <a:latin typeface="Calibri"/>
              </a:defRPr>
            </a:pPr>
            <a:r>
              <a:t>единый формат JSON-ответа</a:t>
            </a:r>
          </a:p>
          <a:p>
            <a:pPr>
              <a:buChar char="•"/>
              <a:lnSpc>
                <a:spcPct val="103000"/>
              </a:lnSpc>
              <a:spcAft>
                <a:spcPts val="300"/>
              </a:spcAft>
              <a:defRPr sz="1700">
                <a:solidFill>
                  <a:srgbClr val="2F3B4F"/>
                </a:solidFill>
                <a:latin typeface="Calibri"/>
              </a:defRPr>
            </a:pPr>
            <a:r>
              <a:t>коды ошибок: 400, 401, 404, 500</a:t>
            </a:r>
          </a:p>
          <a:p>
            <a:pPr>
              <a:buChar char="•"/>
              <a:lnSpc>
                <a:spcPct val="103000"/>
              </a:lnSpc>
              <a:spcAft>
                <a:spcPts val="300"/>
              </a:spcAft>
              <a:defRPr sz="1700">
                <a:solidFill>
                  <a:srgbClr val="2F3B4F"/>
                </a:solidFill>
                <a:latin typeface="Calibri"/>
              </a:defRPr>
            </a:pPr>
            <a:r>
              <a:t>документированные примеры запросов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60" y="1828800"/>
            <a:ext cx="3246120" cy="3547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828800"/>
            <a:ext cx="100584" cy="3547872"/>
          </a:xfrm>
          <a:prstGeom prst="rect">
            <a:avLst/>
          </a:prstGeom>
          <a:solidFill>
            <a:srgbClr val="10A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36592" y="2029968"/>
            <a:ext cx="2788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41D2B"/>
                </a:solidFill>
                <a:latin typeface="Calibri"/>
              </a:rPr>
              <a:t>Данные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73168" y="2514600"/>
            <a:ext cx="2743200" cy="2724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buChar char="•"/>
              <a:lnSpc>
                <a:spcPct val="103000"/>
              </a:lnSpc>
              <a:spcAft>
                <a:spcPts val="300"/>
              </a:spcAft>
              <a:defRPr sz="1700">
                <a:solidFill>
                  <a:srgbClr val="2F3B4F"/>
                </a:solidFill>
                <a:latin typeface="Calibri"/>
              </a:defRPr>
            </a:pPr>
            <a:r>
              <a:t>основные сущности проекта</a:t>
            </a:r>
          </a:p>
          <a:p>
            <a:pPr>
              <a:buChar char="•"/>
              <a:lnSpc>
                <a:spcPct val="103000"/>
              </a:lnSpc>
              <a:spcAft>
                <a:spcPts val="300"/>
              </a:spcAft>
              <a:defRPr sz="1700">
                <a:solidFill>
                  <a:srgbClr val="2F3B4F"/>
                </a:solidFill>
                <a:latin typeface="Calibri"/>
              </a:defRPr>
            </a:pPr>
            <a:r>
              <a:t>связи между таблицами</a:t>
            </a:r>
          </a:p>
          <a:p>
            <a:pPr>
              <a:buChar char="•"/>
              <a:lnSpc>
                <a:spcPct val="103000"/>
              </a:lnSpc>
              <a:spcAft>
                <a:spcPts val="300"/>
              </a:spcAft>
              <a:defRPr sz="1700">
                <a:solidFill>
                  <a:srgbClr val="2F3B4F"/>
                </a:solidFill>
                <a:latin typeface="Calibri"/>
              </a:defRPr>
            </a:pPr>
            <a:r>
              <a:t>индексы для быстрых запросов</a:t>
            </a:r>
          </a:p>
          <a:p>
            <a:pPr>
              <a:buChar char="•"/>
              <a:lnSpc>
                <a:spcPct val="103000"/>
              </a:lnSpc>
              <a:spcAft>
                <a:spcPts val="300"/>
              </a:spcAft>
              <a:defRPr sz="1700">
                <a:solidFill>
                  <a:srgbClr val="2F3B4F"/>
                </a:solidFill>
                <a:latin typeface="Calibri"/>
              </a:defRPr>
            </a:pPr>
            <a:r>
              <a:t>миграции для изменения схемы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828800"/>
            <a:ext cx="3246120" cy="3547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1828800"/>
            <a:ext cx="100584" cy="354787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94192" y="2029968"/>
            <a:ext cx="2788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41D2B"/>
                </a:solidFill>
                <a:latin typeface="Calibri"/>
              </a:rPr>
              <a:t>Качество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0768" y="2514600"/>
            <a:ext cx="2743200" cy="2724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buChar char="•"/>
              <a:lnSpc>
                <a:spcPct val="103000"/>
              </a:lnSpc>
              <a:spcAft>
                <a:spcPts val="300"/>
              </a:spcAft>
              <a:defRPr sz="1700">
                <a:solidFill>
                  <a:srgbClr val="2F3B4F"/>
                </a:solidFill>
                <a:latin typeface="Calibri"/>
              </a:defRPr>
            </a:pPr>
            <a:r>
              <a:t>валидация входных данных</a:t>
            </a:r>
          </a:p>
          <a:p>
            <a:pPr>
              <a:buChar char="•"/>
              <a:lnSpc>
                <a:spcPct val="103000"/>
              </a:lnSpc>
              <a:spcAft>
                <a:spcPts val="300"/>
              </a:spcAft>
              <a:defRPr sz="1700">
                <a:solidFill>
                  <a:srgbClr val="2F3B4F"/>
                </a:solidFill>
                <a:latin typeface="Calibri"/>
              </a:defRPr>
            </a:pPr>
            <a:r>
              <a:t>защита от пустых и неверных значений</a:t>
            </a:r>
          </a:p>
          <a:p>
            <a:pPr>
              <a:buChar char="•"/>
              <a:lnSpc>
                <a:spcPct val="103000"/>
              </a:lnSpc>
              <a:spcAft>
                <a:spcPts val="300"/>
              </a:spcAft>
              <a:defRPr sz="1700">
                <a:solidFill>
                  <a:srgbClr val="2F3B4F"/>
                </a:solidFill>
                <a:latin typeface="Calibri"/>
              </a:defRPr>
            </a:pPr>
            <a:r>
              <a:t>логирование критичных ошибок</a:t>
            </a:r>
          </a:p>
          <a:p>
            <a:pPr>
              <a:buChar char="•"/>
              <a:lnSpc>
                <a:spcPct val="103000"/>
              </a:lnSpc>
              <a:spcAft>
                <a:spcPts val="300"/>
              </a:spcAft>
              <a:defRPr sz="1700">
                <a:solidFill>
                  <a:srgbClr val="2F3B4F"/>
                </a:solidFill>
                <a:latin typeface="Calibri"/>
              </a:defRPr>
            </a:pPr>
            <a:r>
              <a:t>тестовые сценарии для API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58368" y="384048"/>
            <a:ext cx="1298448" cy="310896"/>
          </a:xfrm>
          <a:prstGeom prst="round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000" b="1">
                <a:solidFill>
                  <a:srgbClr val="2563EB"/>
                </a:solidFill>
                <a:latin typeface="Calibri"/>
              </a:rPr>
              <a:t>ПРАКТИКА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6384"/>
            <a:ext cx="89611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141D2B"/>
                </a:solidFill>
                <a:latin typeface="Calibri"/>
              </a:rPr>
              <a:t>Реализация backend-части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16736"/>
            <a:ext cx="95097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65748B"/>
                </a:solidFill>
                <a:latin typeface="Calibri"/>
              </a:rPr>
              <a:t>Из каких блоков состоит серверное приложение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08208" y="457200"/>
            <a:ext cx="7498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65748B"/>
                </a:solidFill>
                <a:latin typeface="Calibri"/>
              </a:rPr>
              <a:t>09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64224"/>
            <a:ext cx="10881360" cy="13716"/>
          </a:xfrm>
          <a:prstGeom prst="rect">
            <a:avLst/>
          </a:prstGeom>
          <a:solidFill>
            <a:srgbClr val="DEE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73952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5748B"/>
                </a:solidFill>
                <a:latin typeface="Calibri"/>
              </a:rPr>
              <a:t>Backend-DevOps разработка | Назаров Иван, веб251з</a:t>
            </a:r>
          </a:p>
        </p:txBody>
      </p:sp>
      <p:sp>
        <p:nvSpPr>
          <p:cNvPr id="9" name="Oval 8"/>
          <p:cNvSpPr/>
          <p:nvPr/>
        </p:nvSpPr>
        <p:spPr>
          <a:xfrm>
            <a:off x="5440680" y="2011680"/>
            <a:ext cx="1115568" cy="1115568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>
                <a:solidFill>
                  <a:srgbClr val="2563EB"/>
                </a:solidFill>
                <a:latin typeface="Calibri"/>
              </a:rPr>
              <a:t>API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1874519"/>
            <a:ext cx="2331720" cy="89611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2020824"/>
            <a:ext cx="20391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2563EB"/>
                </a:solidFill>
                <a:latin typeface="Calibri"/>
              </a:rPr>
              <a:t>Routes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" y="2331720"/>
            <a:ext cx="20391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5748B"/>
                </a:solidFill>
                <a:latin typeface="Calibri"/>
              </a:rPr>
              <a:t>принимают HTTP-запросы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977639"/>
            <a:ext cx="2331720" cy="89611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4123944"/>
            <a:ext cx="20391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0A569"/>
                </a:solidFill>
                <a:latin typeface="Calibri"/>
              </a:rPr>
              <a:t>Services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" y="4434840"/>
            <a:ext cx="20391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5748B"/>
                </a:solidFill>
                <a:latin typeface="Calibri"/>
              </a:rPr>
              <a:t>содержат бизнес-логику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1874519"/>
            <a:ext cx="2331720" cy="896112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75904" y="2020824"/>
            <a:ext cx="20391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D97706"/>
                </a:solidFill>
                <a:latin typeface="Calibri"/>
              </a:rPr>
              <a:t>Repository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5904" y="2331720"/>
            <a:ext cx="20391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5748B"/>
                </a:solidFill>
                <a:latin typeface="Calibri"/>
              </a:rPr>
              <a:t>работает с базой данных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3977639"/>
            <a:ext cx="2331720" cy="89611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75904" y="4123944"/>
            <a:ext cx="20391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DC2626"/>
                </a:solidFill>
                <a:latin typeface="Calibri"/>
              </a:rPr>
              <a:t>Errors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75904" y="4434840"/>
            <a:ext cx="20391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5748B"/>
                </a:solidFill>
                <a:latin typeface="Calibri"/>
              </a:rPr>
              <a:t>возвращает понятные ошибки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246120" y="2322576"/>
            <a:ext cx="2194560" cy="256032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3246120" y="2907792"/>
            <a:ext cx="2194560" cy="1517904"/>
          </a:xfrm>
          <a:prstGeom prst="line">
            <a:avLst/>
          </a:prstGeom>
          <a:ln w="25400">
            <a:solidFill>
              <a:srgbClr val="10A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6556248" y="2322576"/>
            <a:ext cx="1673352" cy="256032"/>
          </a:xfrm>
          <a:prstGeom prst="line">
            <a:avLst/>
          </a:prstGeom>
          <a:ln w="2540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556248" y="2907792"/>
            <a:ext cx="1673352" cy="1517904"/>
          </a:xfrm>
          <a:prstGeom prst="line">
            <a:avLst/>
          </a:prstGeom>
          <a:ln w="25400">
            <a:solidFill>
              <a:srgbClr val="DC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3566160" y="4983480"/>
            <a:ext cx="516636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0" y="5166360"/>
            <a:ext cx="4617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E40AF"/>
                </a:solidFill>
                <a:latin typeface="Calibri"/>
              </a:rPr>
              <a:t>Такую структуру легче тестировать, развивать и переносить на другой сервер.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58368" y="384048"/>
            <a:ext cx="1298448" cy="310896"/>
          </a:xfrm>
          <a:prstGeom prst="round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000" b="1">
                <a:solidFill>
                  <a:srgbClr val="2563EB"/>
                </a:solidFill>
                <a:latin typeface="Calibri"/>
              </a:rPr>
              <a:t>ПРАКТИКА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6384"/>
            <a:ext cx="89611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141D2B"/>
                </a:solidFill>
                <a:latin typeface="Calibri"/>
              </a:rPr>
              <a:t>CI/CD: путь кода до сервера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16736"/>
            <a:ext cx="95097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65748B"/>
                </a:solidFill>
                <a:latin typeface="Calibri"/>
              </a:rPr>
              <a:t>Автоматизация снижает риск ошибок при выпуске обновлений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08208" y="457200"/>
            <a:ext cx="7498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65748B"/>
                </a:solidFill>
                <a:latin typeface="Calibri"/>
              </a:rPr>
              <a:t>10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64224"/>
            <a:ext cx="10881360" cy="13716"/>
          </a:xfrm>
          <a:prstGeom prst="rect">
            <a:avLst/>
          </a:prstGeom>
          <a:solidFill>
            <a:srgbClr val="DEE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73952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5748B"/>
                </a:solidFill>
                <a:latin typeface="Calibri"/>
              </a:rPr>
              <a:t>Backend-DevOps разработка | Назаров Иван, веб251з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" y="1828800"/>
            <a:ext cx="306324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5840" y="2048256"/>
            <a:ext cx="438912" cy="438912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2563EB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9344" y="2039112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41D2B"/>
                </a:solidFill>
                <a:latin typeface="Calibri"/>
              </a:rPr>
              <a:t>Commit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9344" y="245059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2F3B4F"/>
                </a:solidFill>
                <a:latin typeface="Calibri"/>
              </a:rPr>
              <a:t>разработчик отправляет изменения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43984" y="1828800"/>
            <a:ext cx="306324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63440" y="2048256"/>
            <a:ext cx="438912" cy="438912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2563EB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66944" y="2039112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41D2B"/>
                </a:solidFill>
                <a:latin typeface="Calibri"/>
              </a:rPr>
              <a:t>Tests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6944" y="245059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2F3B4F"/>
                </a:solidFill>
                <a:latin typeface="Calibri"/>
              </a:rPr>
              <a:t>запускаются проверки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01583" y="1828800"/>
            <a:ext cx="306324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321040" y="2048256"/>
            <a:ext cx="438912" cy="438912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2563EB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24544" y="2039112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41D2B"/>
                </a:solidFill>
                <a:latin typeface="Calibri"/>
              </a:rPr>
              <a:t>Build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24544" y="245059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2F3B4F"/>
                </a:solidFill>
                <a:latin typeface="Calibri"/>
              </a:rPr>
              <a:t>собирается приложение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6384" y="3520440"/>
            <a:ext cx="306324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5840" y="3739896"/>
            <a:ext cx="438912" cy="438912"/>
          </a:xfrm>
          <a:prstGeom prst="ellipse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10A569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9344" y="3730752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41D2B"/>
                </a:solidFill>
                <a:latin typeface="Calibri"/>
              </a:rPr>
              <a:t>Docker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9344" y="414223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2F3B4F"/>
                </a:solidFill>
                <a:latin typeface="Calibri"/>
              </a:rPr>
              <a:t>создается контейнер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43984" y="3520440"/>
            <a:ext cx="306324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663440" y="3739896"/>
            <a:ext cx="438912" cy="438912"/>
          </a:xfrm>
          <a:prstGeom prst="ellipse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10A569"/>
                </a:solidFill>
                <a:latin typeface="Calibr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66944" y="3730752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41D2B"/>
                </a:solidFill>
                <a:latin typeface="Calibri"/>
              </a:rPr>
              <a:t>Deploy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66944" y="414223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2F3B4F"/>
                </a:solidFill>
                <a:latin typeface="Calibri"/>
              </a:rPr>
              <a:t>версия попадает на сервер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01583" y="3520440"/>
            <a:ext cx="306324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321040" y="3739896"/>
            <a:ext cx="438912" cy="438912"/>
          </a:xfrm>
          <a:prstGeom prst="ellipse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10A569"/>
                </a:solidFill>
                <a:latin typeface="Calibri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24544" y="3730752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41D2B"/>
                </a:solidFill>
                <a:latin typeface="Calibri"/>
              </a:rPr>
              <a:t>Monitor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24544" y="414223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2F3B4F"/>
                </a:solidFill>
                <a:latin typeface="Calibri"/>
              </a:rPr>
              <a:t>проверяются логи и метрики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" y="5596128"/>
            <a:ext cx="10012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141D2B"/>
                </a:solidFill>
                <a:latin typeface="Calibri"/>
              </a:rPr>
              <a:t>Главная идея: релиз должен проходить одинаково каждый раз, независимо от того, кто его запускает.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58368" y="384048"/>
            <a:ext cx="1298448" cy="310896"/>
          </a:xfrm>
          <a:prstGeom prst="round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000" b="1">
                <a:solidFill>
                  <a:srgbClr val="2563EB"/>
                </a:solidFill>
                <a:latin typeface="Calibri"/>
              </a:rPr>
              <a:t>ПРАКТИКА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6384"/>
            <a:ext cx="89611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141D2B"/>
                </a:solidFill>
                <a:latin typeface="Calibri"/>
              </a:rPr>
              <a:t>Надежность и безопасность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16736"/>
            <a:ext cx="95097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65748B"/>
                </a:solidFill>
                <a:latin typeface="Calibri"/>
              </a:rPr>
              <a:t>Что помогает сервису работать стабильно после запуска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08208" y="457200"/>
            <a:ext cx="7498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65748B"/>
                </a:solidFill>
                <a:latin typeface="Calibri"/>
              </a:rP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64224"/>
            <a:ext cx="10881360" cy="13716"/>
          </a:xfrm>
          <a:prstGeom prst="rect">
            <a:avLst/>
          </a:prstGeom>
          <a:solidFill>
            <a:srgbClr val="DEE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73952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5748B"/>
                </a:solidFill>
                <a:latin typeface="Calibri"/>
              </a:rPr>
              <a:t>Backend-DevOps разработка | Назаров Иван, веб251з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" y="1828800"/>
            <a:ext cx="48006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3271" y="2121408"/>
            <a:ext cx="566928" cy="566928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2563EB"/>
                </a:solidFill>
                <a:latin typeface="Calibri"/>
              </a:rPr>
              <a:t>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2011680"/>
            <a:ext cx="3520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41D2B"/>
                </a:solidFill>
                <a:latin typeface="Calibri"/>
              </a:rPr>
              <a:t>Конфигурация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64792" y="2432304"/>
            <a:ext cx="352044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buChar char="•"/>
              <a:lnSpc>
                <a:spcPct val="103000"/>
              </a:lnSpc>
              <a:spcAft>
                <a:spcPts val="100"/>
              </a:spcAft>
              <a:defRPr sz="1600">
                <a:solidFill>
                  <a:srgbClr val="2F3B4F"/>
                </a:solidFill>
                <a:latin typeface="Calibri"/>
              </a:defRPr>
            </a:pPr>
            <a:r>
              <a:t>секреты не хранятся в коде</a:t>
            </a:r>
          </a:p>
          <a:p>
            <a:pPr>
              <a:buChar char="•"/>
              <a:lnSpc>
                <a:spcPct val="103000"/>
              </a:lnSpc>
              <a:spcAft>
                <a:spcPts val="100"/>
              </a:spcAft>
              <a:defRPr sz="1600">
                <a:solidFill>
                  <a:srgbClr val="2F3B4F"/>
                </a:solidFill>
                <a:latin typeface="Calibri"/>
              </a:defRPr>
            </a:pPr>
            <a:r>
              <a:t>настройки идут через переменные среды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91072" y="1828800"/>
            <a:ext cx="48006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519672" y="2121408"/>
            <a:ext cx="566928" cy="566928"/>
          </a:xfrm>
          <a:prstGeom prst="ellipse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10A569"/>
                </a:solidFill>
                <a:latin typeface="Calibri"/>
              </a:rPr>
              <a:t>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51192" y="2011680"/>
            <a:ext cx="3520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41D2B"/>
                </a:solidFill>
                <a:latin typeface="Calibri"/>
              </a:rPr>
              <a:t>Health-check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51192" y="2432304"/>
            <a:ext cx="352044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buChar char="•"/>
              <a:lnSpc>
                <a:spcPct val="103000"/>
              </a:lnSpc>
              <a:spcAft>
                <a:spcPts val="100"/>
              </a:spcAft>
              <a:defRPr sz="1600">
                <a:solidFill>
                  <a:srgbClr val="2F3B4F"/>
                </a:solidFill>
                <a:latin typeface="Calibri"/>
              </a:defRPr>
            </a:pPr>
            <a:r>
              <a:t>сервер сообщает, что он жив</a:t>
            </a:r>
          </a:p>
          <a:p>
            <a:pPr>
              <a:buChar char="•"/>
              <a:lnSpc>
                <a:spcPct val="103000"/>
              </a:lnSpc>
              <a:spcAft>
                <a:spcPts val="100"/>
              </a:spcAft>
              <a:defRPr sz="1600">
                <a:solidFill>
                  <a:srgbClr val="2F3B4F"/>
                </a:solidFill>
                <a:latin typeface="Calibri"/>
              </a:defRPr>
            </a:pPr>
            <a:r>
              <a:t>можно быстро заметить сбой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" y="3566160"/>
            <a:ext cx="48006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1" y="3858768"/>
            <a:ext cx="566928" cy="566928"/>
          </a:xfrm>
          <a:prstGeom prst="ellipse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D97706"/>
                </a:solidFill>
                <a:latin typeface="Calibri"/>
              </a:rPr>
              <a:t>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64792" y="3749039"/>
            <a:ext cx="3520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41D2B"/>
                </a:solidFill>
                <a:latin typeface="Calibri"/>
              </a:rPr>
              <a:t>Логи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169663"/>
            <a:ext cx="352044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buChar char="•"/>
              <a:lnSpc>
                <a:spcPct val="103000"/>
              </a:lnSpc>
              <a:spcAft>
                <a:spcPts val="100"/>
              </a:spcAft>
              <a:defRPr sz="1600">
                <a:solidFill>
                  <a:srgbClr val="2F3B4F"/>
                </a:solidFill>
                <a:latin typeface="Calibri"/>
              </a:defRPr>
            </a:pPr>
            <a:r>
              <a:t>ошибки имеют контекст</a:t>
            </a:r>
          </a:p>
          <a:p>
            <a:pPr>
              <a:buChar char="•"/>
              <a:lnSpc>
                <a:spcPct val="103000"/>
              </a:lnSpc>
              <a:spcAft>
                <a:spcPts val="100"/>
              </a:spcAft>
              <a:defRPr sz="1600">
                <a:solidFill>
                  <a:srgbClr val="2F3B4F"/>
                </a:solidFill>
                <a:latin typeface="Calibri"/>
              </a:defRPr>
            </a:pPr>
            <a:r>
              <a:t>проще найти причину инцидента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91072" y="3566160"/>
            <a:ext cx="48006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519672" y="3858768"/>
            <a:ext cx="566928" cy="566928"/>
          </a:xfrm>
          <a:prstGeom prst="ellipse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DC2626"/>
                </a:solidFill>
                <a:latin typeface="Calibri"/>
              </a:rPr>
              <a:t>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51192" y="3749039"/>
            <a:ext cx="3520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41D2B"/>
                </a:solidFill>
                <a:latin typeface="Calibri"/>
              </a:rPr>
              <a:t>Резервирование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51192" y="4169663"/>
            <a:ext cx="352044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buChar char="•"/>
              <a:lnSpc>
                <a:spcPct val="103000"/>
              </a:lnSpc>
              <a:spcAft>
                <a:spcPts val="100"/>
              </a:spcAft>
              <a:defRPr sz="1600">
                <a:solidFill>
                  <a:srgbClr val="2F3B4F"/>
                </a:solidFill>
                <a:latin typeface="Calibri"/>
              </a:defRPr>
            </a:pPr>
            <a:r>
              <a:t>бэкапы базы данных</a:t>
            </a:r>
          </a:p>
          <a:p>
            <a:pPr>
              <a:buChar char="•"/>
              <a:lnSpc>
                <a:spcPct val="103000"/>
              </a:lnSpc>
              <a:spcAft>
                <a:spcPts val="100"/>
              </a:spcAft>
              <a:defRPr sz="1600">
                <a:solidFill>
                  <a:srgbClr val="2F3B4F"/>
                </a:solidFill>
                <a:latin typeface="Calibri"/>
              </a:defRPr>
            </a:pPr>
            <a:r>
              <a:t>план восстановления после сбоя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58368" y="384048"/>
            <a:ext cx="1298448" cy="310896"/>
          </a:xfrm>
          <a:prstGeom prst="round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000" b="1">
                <a:solidFill>
                  <a:srgbClr val="2563EB"/>
                </a:solidFill>
                <a:latin typeface="Calibri"/>
              </a:rPr>
              <a:t>ПРОФЕССИЯ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6384"/>
            <a:ext cx="89611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141D2B"/>
                </a:solidFill>
                <a:latin typeface="Calibri"/>
              </a:rPr>
              <a:t>Где работает Backend-DevOps специалист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16736"/>
            <a:ext cx="95097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65748B"/>
                </a:solidFill>
                <a:latin typeface="Calibri"/>
              </a:rPr>
              <a:t>Профессия востребована там, где есть веб-сервисы и данные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08208" y="457200"/>
            <a:ext cx="7498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65748B"/>
                </a:solidFill>
                <a:latin typeface="Calibri"/>
              </a:rPr>
              <a:t>12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64224"/>
            <a:ext cx="10881360" cy="13716"/>
          </a:xfrm>
          <a:prstGeom prst="rect">
            <a:avLst/>
          </a:prstGeom>
          <a:solidFill>
            <a:srgbClr val="DEE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73952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5748B"/>
                </a:solidFill>
                <a:latin typeface="Calibri"/>
              </a:rPr>
              <a:t>Backend-DevOps разработка | Назаров Иван, веб251з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828800"/>
            <a:ext cx="324612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1828800"/>
            <a:ext cx="100584" cy="33832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2029968"/>
            <a:ext cx="2788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41D2B"/>
                </a:solidFill>
                <a:latin typeface="Calibri"/>
              </a:rPr>
              <a:t>Места работы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2514600"/>
            <a:ext cx="274320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buChar char="•"/>
              <a:lnSpc>
                <a:spcPct val="103000"/>
              </a:lnSpc>
              <a:spcAft>
                <a:spcPts val="300"/>
              </a:spcAft>
              <a:defRPr sz="1700">
                <a:solidFill>
                  <a:srgbClr val="2F3B4F"/>
                </a:solidFill>
                <a:latin typeface="Calibri"/>
              </a:defRPr>
            </a:pPr>
            <a:r>
              <a:t>IT-компании и стартапы</a:t>
            </a:r>
          </a:p>
          <a:p>
            <a:pPr>
              <a:buChar char="•"/>
              <a:lnSpc>
                <a:spcPct val="103000"/>
              </a:lnSpc>
              <a:spcAft>
                <a:spcPts val="300"/>
              </a:spcAft>
              <a:defRPr sz="1700">
                <a:solidFill>
                  <a:srgbClr val="2F3B4F"/>
                </a:solidFill>
                <a:latin typeface="Calibri"/>
              </a:defRPr>
            </a:pPr>
            <a:r>
              <a:t>банки, финтех, e-commerce</a:t>
            </a:r>
          </a:p>
          <a:p>
            <a:pPr>
              <a:buChar char="•"/>
              <a:lnSpc>
                <a:spcPct val="103000"/>
              </a:lnSpc>
              <a:spcAft>
                <a:spcPts val="300"/>
              </a:spcAft>
              <a:defRPr sz="1700">
                <a:solidFill>
                  <a:srgbClr val="2F3B4F"/>
                </a:solidFill>
                <a:latin typeface="Calibri"/>
              </a:defRPr>
            </a:pPr>
            <a:r>
              <a:t>образовательные платформы</a:t>
            </a:r>
          </a:p>
          <a:p>
            <a:pPr>
              <a:buChar char="•"/>
              <a:lnSpc>
                <a:spcPct val="103000"/>
              </a:lnSpc>
              <a:spcAft>
                <a:spcPts val="300"/>
              </a:spcAft>
              <a:defRPr sz="1700">
                <a:solidFill>
                  <a:srgbClr val="2F3B4F"/>
                </a:solidFill>
                <a:latin typeface="Calibri"/>
              </a:defRPr>
            </a:pPr>
            <a:r>
              <a:t>госуслуги и городские сервисы</a:t>
            </a:r>
          </a:p>
          <a:p>
            <a:pPr>
              <a:buChar char="•"/>
              <a:lnSpc>
                <a:spcPct val="103000"/>
              </a:lnSpc>
              <a:spcAft>
                <a:spcPts val="300"/>
              </a:spcAft>
              <a:defRPr sz="1700">
                <a:solidFill>
                  <a:srgbClr val="2F3B4F"/>
                </a:solidFill>
                <a:latin typeface="Calibri"/>
              </a:defRPr>
            </a:pPr>
            <a:r>
              <a:t>удаленные международные команды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60" y="1828800"/>
            <a:ext cx="324612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828800"/>
            <a:ext cx="100584" cy="3383280"/>
          </a:xfrm>
          <a:prstGeom prst="rect">
            <a:avLst/>
          </a:prstGeom>
          <a:solidFill>
            <a:srgbClr val="10A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36592" y="2029968"/>
            <a:ext cx="2788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41D2B"/>
                </a:solidFill>
                <a:latin typeface="Calibri"/>
              </a:rPr>
              <a:t>В Кемерово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73168" y="2514600"/>
            <a:ext cx="274320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buChar char="•"/>
              <a:lnSpc>
                <a:spcPct val="103000"/>
              </a:lnSpc>
              <a:spcAft>
                <a:spcPts val="300"/>
              </a:spcAft>
              <a:defRPr sz="1700">
                <a:solidFill>
                  <a:srgbClr val="2F3B4F"/>
                </a:solidFill>
                <a:latin typeface="Calibri"/>
              </a:defRPr>
            </a:pPr>
            <a:r>
              <a:t>локальные веб-студии</a:t>
            </a:r>
          </a:p>
          <a:p>
            <a:pPr>
              <a:buChar char="•"/>
              <a:lnSpc>
                <a:spcPct val="103000"/>
              </a:lnSpc>
              <a:spcAft>
                <a:spcPts val="300"/>
              </a:spcAft>
              <a:defRPr sz="1700">
                <a:solidFill>
                  <a:srgbClr val="2F3B4F"/>
                </a:solidFill>
                <a:latin typeface="Calibri"/>
              </a:defRPr>
            </a:pPr>
            <a:r>
              <a:t>интеграторы и поддержка бизнеса</a:t>
            </a:r>
          </a:p>
          <a:p>
            <a:pPr>
              <a:buChar char="•"/>
              <a:lnSpc>
                <a:spcPct val="103000"/>
              </a:lnSpc>
              <a:spcAft>
                <a:spcPts val="300"/>
              </a:spcAft>
              <a:defRPr sz="1700">
                <a:solidFill>
                  <a:srgbClr val="2F3B4F"/>
                </a:solidFill>
                <a:latin typeface="Calibri"/>
              </a:defRPr>
            </a:pPr>
            <a:r>
              <a:t>университетские и городские проекты</a:t>
            </a:r>
          </a:p>
          <a:p>
            <a:pPr>
              <a:buChar char="•"/>
              <a:lnSpc>
                <a:spcPct val="103000"/>
              </a:lnSpc>
              <a:spcAft>
                <a:spcPts val="300"/>
              </a:spcAft>
              <a:defRPr sz="1700">
                <a:solidFill>
                  <a:srgbClr val="2F3B4F"/>
                </a:solidFill>
                <a:latin typeface="Calibri"/>
              </a:defRPr>
            </a:pPr>
            <a:r>
              <a:t>работа с компаниями из других регионов онлайн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828800"/>
            <a:ext cx="324612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1828800"/>
            <a:ext cx="100584" cy="33832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94192" y="2029968"/>
            <a:ext cx="2788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41D2B"/>
                </a:solidFill>
                <a:latin typeface="Calibri"/>
              </a:rPr>
              <a:t>Интересный факт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0768" y="2514600"/>
            <a:ext cx="274320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buChar char="•"/>
              <a:lnSpc>
                <a:spcPct val="103000"/>
              </a:lnSpc>
              <a:spcAft>
                <a:spcPts val="300"/>
              </a:spcAft>
              <a:defRPr sz="1700">
                <a:solidFill>
                  <a:srgbClr val="2F3B4F"/>
                </a:solidFill>
                <a:latin typeface="Calibri"/>
              </a:defRPr>
            </a:pPr>
            <a:r>
              <a:t>сбой часто виден пользователю как «сайт не работает»</a:t>
            </a:r>
          </a:p>
          <a:p>
            <a:pPr>
              <a:buChar char="•"/>
              <a:lnSpc>
                <a:spcPct val="103000"/>
              </a:lnSpc>
              <a:spcAft>
                <a:spcPts val="300"/>
              </a:spcAft>
              <a:defRPr sz="1700">
                <a:solidFill>
                  <a:srgbClr val="2F3B4F"/>
                </a:solidFill>
                <a:latin typeface="Calibri"/>
              </a:defRPr>
            </a:pPr>
            <a:r>
              <a:t>причина может быть в коде, базе, сети или настройках</a:t>
            </a:r>
          </a:p>
          <a:p>
            <a:pPr>
              <a:buChar char="•"/>
              <a:lnSpc>
                <a:spcPct val="103000"/>
              </a:lnSpc>
              <a:spcAft>
                <a:spcPts val="300"/>
              </a:spcAft>
              <a:defRPr sz="1700">
                <a:solidFill>
                  <a:srgbClr val="2F3B4F"/>
                </a:solidFill>
                <a:latin typeface="Calibri"/>
              </a:defRPr>
            </a:pPr>
            <a:r>
              <a:t>поэтому важны логи и командная коммуникация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58368" y="384048"/>
            <a:ext cx="1298448" cy="310896"/>
          </a:xfrm>
          <a:prstGeom prst="round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000" b="1">
                <a:solidFill>
                  <a:srgbClr val="2563EB"/>
                </a:solidFill>
                <a:latin typeface="Calibri"/>
              </a:rPr>
              <a:t>РЫНОК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6384"/>
            <a:ext cx="89611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141D2B"/>
                </a:solidFill>
                <a:latin typeface="Calibri"/>
              </a:rPr>
              <a:t>Востребованность и карьерный путь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16736"/>
            <a:ext cx="95097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65748B"/>
                </a:solidFill>
                <a:latin typeface="Calibri"/>
              </a:rPr>
              <a:t>Backend-DevOps дает несколько направлений развития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08208" y="457200"/>
            <a:ext cx="7498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65748B"/>
                </a:solidFill>
                <a:latin typeface="Calibri"/>
              </a:rPr>
              <a:t>13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64224"/>
            <a:ext cx="10881360" cy="13716"/>
          </a:xfrm>
          <a:prstGeom prst="rect">
            <a:avLst/>
          </a:prstGeom>
          <a:solidFill>
            <a:srgbClr val="DEE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73952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5748B"/>
                </a:solidFill>
                <a:latin typeface="Calibri"/>
              </a:rPr>
              <a:t>Backend-DevOps разработка | Назаров Иван, веб251з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1847088"/>
            <a:ext cx="475488" cy="475488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2563EB"/>
                </a:solidFill>
                <a:latin typeface="Calibri"/>
              </a:rPr>
              <a:t/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52144" y="2084832"/>
            <a:ext cx="722375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874519" y="1709928"/>
            <a:ext cx="384048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30552" y="1847088"/>
            <a:ext cx="1737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2563EB"/>
                </a:solidFill>
                <a:latin typeface="Calibri"/>
              </a:rPr>
              <a:t>Junior Backend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22191" y="1856231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F3B4F"/>
                </a:solidFill>
                <a:latin typeface="Calibri"/>
              </a:rPr>
              <a:t>учится писать API и тесты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2852928"/>
            <a:ext cx="475488" cy="475488"/>
          </a:xfrm>
          <a:prstGeom prst="ellipse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10A569"/>
                </a:solidFill>
                <a:latin typeface="Calibri"/>
              </a:rPr>
              <a:t/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52144" y="3090672"/>
            <a:ext cx="722375" cy="0"/>
          </a:xfrm>
          <a:prstGeom prst="line">
            <a:avLst/>
          </a:prstGeom>
          <a:ln w="25400">
            <a:solidFill>
              <a:srgbClr val="10A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874519" y="2715768"/>
            <a:ext cx="384048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30552" y="2852928"/>
            <a:ext cx="1737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0A569"/>
                </a:solidFill>
                <a:latin typeface="Calibri"/>
              </a:rPr>
              <a:t>Backend Developer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22191" y="2862072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F3B4F"/>
                </a:solidFill>
                <a:latin typeface="Calibri"/>
              </a:rPr>
              <a:t>самостоятельно развивает сервис</a:t>
            </a:r>
          </a:p>
        </p:txBody>
      </p:sp>
      <p:sp>
        <p:nvSpPr>
          <p:cNvPr id="19" name="Oval 18"/>
          <p:cNvSpPr/>
          <p:nvPr/>
        </p:nvSpPr>
        <p:spPr>
          <a:xfrm>
            <a:off x="914400" y="3858768"/>
            <a:ext cx="475488" cy="475488"/>
          </a:xfrm>
          <a:prstGeom prst="ellipse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D97706"/>
                </a:solidFill>
                <a:latin typeface="Calibri"/>
              </a:rPr>
              <a:t/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152144" y="4096511"/>
            <a:ext cx="722375" cy="0"/>
          </a:xfrm>
          <a:prstGeom prst="line">
            <a:avLst/>
          </a:prstGeom>
          <a:ln w="2540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1874519" y="3721607"/>
            <a:ext cx="384048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0552" y="3858768"/>
            <a:ext cx="1737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D97706"/>
                </a:solidFill>
                <a:latin typeface="Calibri"/>
              </a:rPr>
              <a:t>DevOps Engineer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22191" y="3867911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F3B4F"/>
                </a:solidFill>
                <a:latin typeface="Calibri"/>
              </a:rPr>
              <a:t>автоматизирует сборку и запуск</a:t>
            </a:r>
          </a:p>
        </p:txBody>
      </p:sp>
      <p:sp>
        <p:nvSpPr>
          <p:cNvPr id="24" name="Oval 23"/>
          <p:cNvSpPr/>
          <p:nvPr/>
        </p:nvSpPr>
        <p:spPr>
          <a:xfrm>
            <a:off x="914400" y="4864608"/>
            <a:ext cx="475488" cy="475488"/>
          </a:xfrm>
          <a:prstGeom prst="ellipse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7C3AED"/>
                </a:solidFill>
                <a:latin typeface="Calibri"/>
              </a:rPr>
              <a:t/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52144" y="5102352"/>
            <a:ext cx="722375" cy="0"/>
          </a:xfrm>
          <a:prstGeom prst="line">
            <a:avLst/>
          </a:prstGeom>
          <a:ln w="254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1874519" y="4727448"/>
            <a:ext cx="384048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130552" y="4864608"/>
            <a:ext cx="1737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Calibri"/>
              </a:rPr>
              <a:t>SRE / Architect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22191" y="4873752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F3B4F"/>
                </a:solidFill>
                <a:latin typeface="Calibri"/>
              </a:rPr>
              <a:t>отвечает за надежность и архитектуру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29400" y="1847088"/>
            <a:ext cx="4206240" cy="3611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629400" y="1847088"/>
            <a:ext cx="100584" cy="36118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85432" y="2048256"/>
            <a:ext cx="37490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41D2B"/>
                </a:solidFill>
                <a:latin typeface="Calibri"/>
              </a:rPr>
              <a:t>Про зарплату и спрос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22008" y="2532888"/>
            <a:ext cx="3703320" cy="2788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buChar char="•"/>
              <a:lnSpc>
                <a:spcPct val="103000"/>
              </a:lnSpc>
              <a:spcAft>
                <a:spcPts val="300"/>
              </a:spcAft>
              <a:defRPr sz="1700">
                <a:solidFill>
                  <a:srgbClr val="2F3B4F"/>
                </a:solidFill>
                <a:latin typeface="Calibri"/>
              </a:defRPr>
            </a:pPr>
            <a:r>
              <a:t>доход зависит от уровня, города, стека и ответственности</a:t>
            </a:r>
          </a:p>
          <a:p>
            <a:pPr>
              <a:buChar char="•"/>
              <a:lnSpc>
                <a:spcPct val="103000"/>
              </a:lnSpc>
              <a:spcAft>
                <a:spcPts val="300"/>
              </a:spcAft>
              <a:defRPr sz="1700">
                <a:solidFill>
                  <a:srgbClr val="2F3B4F"/>
                </a:solidFill>
                <a:latin typeface="Calibri"/>
              </a:defRPr>
            </a:pPr>
            <a:r>
              <a:t>удаленная работа расширяет выбор вакансий</a:t>
            </a:r>
          </a:p>
          <a:p>
            <a:pPr>
              <a:buChar char="•"/>
              <a:lnSpc>
                <a:spcPct val="103000"/>
              </a:lnSpc>
              <a:spcAft>
                <a:spcPts val="300"/>
              </a:spcAft>
              <a:defRPr sz="1700">
                <a:solidFill>
                  <a:srgbClr val="2F3B4F"/>
                </a:solidFill>
                <a:latin typeface="Calibri"/>
              </a:defRPr>
            </a:pPr>
            <a:r>
              <a:t>ценятся практические проекты и умение запускать сервис</a:t>
            </a:r>
          </a:p>
          <a:p>
            <a:pPr>
              <a:buChar char="•"/>
              <a:lnSpc>
                <a:spcPct val="103000"/>
              </a:lnSpc>
              <a:spcAft>
                <a:spcPts val="300"/>
              </a:spcAft>
              <a:defRPr sz="1700">
                <a:solidFill>
                  <a:srgbClr val="2F3B4F"/>
                </a:solidFill>
                <a:latin typeface="Calibri"/>
              </a:defRPr>
            </a:pPr>
            <a:r>
              <a:t>для роста важны Git, Linux, Docker, SQL и тестирование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58368" y="384048"/>
            <a:ext cx="1298448" cy="310896"/>
          </a:xfrm>
          <a:prstGeom prst="round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000" b="1">
                <a:solidFill>
                  <a:srgbClr val="2563EB"/>
                </a:solidFill>
                <a:latin typeface="Calibri"/>
              </a:rPr>
              <a:t>ВЫВОДЫ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6384"/>
            <a:ext cx="89611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141D2B"/>
                </a:solidFill>
                <a:latin typeface="Calibri"/>
              </a:rPr>
              <a:t>Выводы и предложения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16736"/>
            <a:ext cx="95097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65748B"/>
                </a:solidFill>
                <a:latin typeface="Calibri"/>
              </a:rPr>
              <a:t>Минимум итогов, которые важно вынести из проекта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08208" y="457200"/>
            <a:ext cx="7498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65748B"/>
                </a:solidFill>
                <a:latin typeface="Calibri"/>
              </a:rPr>
              <a:t>14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64224"/>
            <a:ext cx="10881360" cy="13716"/>
          </a:xfrm>
          <a:prstGeom prst="rect">
            <a:avLst/>
          </a:prstGeom>
          <a:solidFill>
            <a:srgbClr val="DEE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73952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5748B"/>
                </a:solidFill>
                <a:latin typeface="Calibri"/>
              </a:rPr>
              <a:t>Backend-DevOps разработка | Назаров Иван, веб251з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828800"/>
            <a:ext cx="4983480" cy="3401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1828800"/>
            <a:ext cx="100584" cy="340156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2029968"/>
            <a:ext cx="4526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41D2B"/>
                </a:solidFill>
                <a:latin typeface="Calibri"/>
              </a:rPr>
              <a:t>Выводы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2514600"/>
            <a:ext cx="4480560" cy="2578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buChar char="•"/>
              <a:lnSpc>
                <a:spcPct val="103000"/>
              </a:lnSpc>
              <a:spcAft>
                <a:spcPts val="300"/>
              </a:spcAft>
              <a:defRPr sz="1700">
                <a:solidFill>
                  <a:srgbClr val="2F3B4F"/>
                </a:solidFill>
                <a:latin typeface="Calibri"/>
              </a:defRPr>
            </a:pPr>
            <a:r>
              <a:t>Backend — основа веб-сервиса: API, данные, логика и безопасность</a:t>
            </a:r>
          </a:p>
          <a:p>
            <a:pPr>
              <a:buChar char="•"/>
              <a:lnSpc>
                <a:spcPct val="103000"/>
              </a:lnSpc>
              <a:spcAft>
                <a:spcPts val="300"/>
              </a:spcAft>
              <a:defRPr sz="1700">
                <a:solidFill>
                  <a:srgbClr val="2F3B4F"/>
                </a:solidFill>
                <a:latin typeface="Calibri"/>
              </a:defRPr>
            </a:pPr>
            <a:r>
              <a:t>DevOps помогает доставлять код до пользователя быстрее и надежнее</a:t>
            </a:r>
          </a:p>
          <a:p>
            <a:pPr>
              <a:buChar char="•"/>
              <a:lnSpc>
                <a:spcPct val="103000"/>
              </a:lnSpc>
              <a:spcAft>
                <a:spcPts val="300"/>
              </a:spcAft>
              <a:defRPr sz="1700">
                <a:solidFill>
                  <a:srgbClr val="2F3B4F"/>
                </a:solidFill>
                <a:latin typeface="Calibri"/>
              </a:defRPr>
            </a:pPr>
            <a:r>
              <a:t>проект показал связь между разработкой, тестами, контейнером и логами</a:t>
            </a:r>
          </a:p>
          <a:p>
            <a:pPr>
              <a:buChar char="•"/>
              <a:lnSpc>
                <a:spcPct val="103000"/>
              </a:lnSpc>
              <a:spcAft>
                <a:spcPts val="300"/>
              </a:spcAft>
              <a:defRPr sz="1700">
                <a:solidFill>
                  <a:srgbClr val="2F3B4F"/>
                </a:solidFill>
                <a:latin typeface="Calibri"/>
              </a:defRPr>
            </a:pPr>
            <a:r>
              <a:t>профессия требует практики и постоянного обновления знаний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7648" y="1828800"/>
            <a:ext cx="4983480" cy="3401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828800"/>
            <a:ext cx="100584" cy="3401568"/>
          </a:xfrm>
          <a:prstGeom prst="rect">
            <a:avLst/>
          </a:prstGeom>
          <a:solidFill>
            <a:srgbClr val="10A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029968"/>
            <a:ext cx="4526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41D2B"/>
                </a:solidFill>
                <a:latin typeface="Calibri"/>
              </a:rPr>
              <a:t>Предложения для развития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0256" y="2514600"/>
            <a:ext cx="4480560" cy="2578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buChar char="•"/>
              <a:lnSpc>
                <a:spcPct val="103000"/>
              </a:lnSpc>
              <a:spcAft>
                <a:spcPts val="300"/>
              </a:spcAft>
              <a:defRPr sz="1700">
                <a:solidFill>
                  <a:srgbClr val="2F3B4F"/>
                </a:solidFill>
                <a:latin typeface="Calibri"/>
              </a:defRPr>
            </a:pPr>
            <a:r>
              <a:t>добавить больше автоматических тестов</a:t>
            </a:r>
          </a:p>
          <a:p>
            <a:pPr>
              <a:buChar char="•"/>
              <a:lnSpc>
                <a:spcPct val="103000"/>
              </a:lnSpc>
              <a:spcAft>
                <a:spcPts val="300"/>
              </a:spcAft>
              <a:defRPr sz="1700">
                <a:solidFill>
                  <a:srgbClr val="2F3B4F"/>
                </a:solidFill>
                <a:latin typeface="Calibri"/>
              </a:defRPr>
            </a:pPr>
            <a:r>
              <a:t>подключить мониторинг метрик и алертов</a:t>
            </a:r>
          </a:p>
          <a:p>
            <a:pPr>
              <a:buChar char="•"/>
              <a:lnSpc>
                <a:spcPct val="103000"/>
              </a:lnSpc>
              <a:spcAft>
                <a:spcPts val="300"/>
              </a:spcAft>
              <a:defRPr sz="1700">
                <a:solidFill>
                  <a:srgbClr val="2F3B4F"/>
                </a:solidFill>
                <a:latin typeface="Calibri"/>
              </a:defRPr>
            </a:pPr>
            <a:r>
              <a:t>оформить README с понятной инструкцией запуска</a:t>
            </a:r>
          </a:p>
          <a:p>
            <a:pPr>
              <a:buChar char="•"/>
              <a:lnSpc>
                <a:spcPct val="103000"/>
              </a:lnSpc>
              <a:spcAft>
                <a:spcPts val="300"/>
              </a:spcAft>
              <a:defRPr sz="1700">
                <a:solidFill>
                  <a:srgbClr val="2F3B4F"/>
                </a:solidFill>
                <a:latin typeface="Calibri"/>
              </a:defRPr>
            </a:pPr>
            <a:r>
              <a:t>развивать портфолио небольшими сервисами с деплоем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49808" y="713232"/>
            <a:ext cx="1965960" cy="384048"/>
          </a:xfrm>
          <a:prstGeom prst="round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200" b="1">
                <a:solidFill>
                  <a:srgbClr val="2563EB"/>
                </a:solidFill>
                <a:latin typeface="Calibri"/>
              </a:rPr>
              <a:t>ЗАВЕРШЕНИЕ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353312"/>
            <a:ext cx="76809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141D2B"/>
                </a:solidFill>
                <a:latin typeface="Calibri"/>
              </a:rPr>
              <a:t>Backend-DevOps разработка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2121408"/>
            <a:ext cx="64922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0">
                <a:solidFill>
                  <a:srgbClr val="65748B"/>
                </a:solidFill>
                <a:latin typeface="Calibri"/>
              </a:rPr>
              <a:t>Путь от серверного кода до стабильного веб-сервиса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3063240"/>
            <a:ext cx="54406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3300984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41D2B"/>
                </a:solidFill>
                <a:latin typeface="Calibri"/>
              </a:rPr>
              <a:t>Назаров Иван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3703320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2F3B4F"/>
                </a:solidFill>
                <a:latin typeface="Calibri"/>
              </a:rPr>
              <a:t>Группа веб251з | Кемерово | 14.05.2026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5266944"/>
            <a:ext cx="47548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2563EB"/>
                </a:solidFill>
                <a:latin typeface="Calibri"/>
              </a:rPr>
              <a:t>Спасибо за внимание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0" y="1051560"/>
            <a:ext cx="365760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18120" y="1627632"/>
            <a:ext cx="841248" cy="841248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563EB"/>
                </a:solidFill>
                <a:latin typeface="Calibri"/>
              </a:rPr>
              <a:t>CODE</a:t>
            </a:r>
          </a:p>
        </p:txBody>
      </p:sp>
      <p:sp>
        <p:nvSpPr>
          <p:cNvPr id="12" name="Oval 11"/>
          <p:cNvSpPr/>
          <p:nvPr/>
        </p:nvSpPr>
        <p:spPr>
          <a:xfrm>
            <a:off x="9281160" y="1627632"/>
            <a:ext cx="841248" cy="841248"/>
          </a:xfrm>
          <a:prstGeom prst="ellipse">
            <a:avLst/>
          </a:prstGeom>
          <a:solidFill>
            <a:srgbClr val="CFF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891B2"/>
                </a:solidFill>
                <a:latin typeface="Calibri"/>
              </a:rPr>
              <a:t>API</a:t>
            </a:r>
          </a:p>
        </p:txBody>
      </p:sp>
      <p:sp>
        <p:nvSpPr>
          <p:cNvPr id="13" name="Oval 12"/>
          <p:cNvSpPr/>
          <p:nvPr/>
        </p:nvSpPr>
        <p:spPr>
          <a:xfrm>
            <a:off x="7818120" y="2871216"/>
            <a:ext cx="841248" cy="841248"/>
          </a:xfrm>
          <a:prstGeom prst="ellipse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10A569"/>
                </a:solidFill>
                <a:latin typeface="Calibri"/>
              </a:rPr>
              <a:t>DB</a:t>
            </a:r>
          </a:p>
        </p:txBody>
      </p:sp>
      <p:sp>
        <p:nvSpPr>
          <p:cNvPr id="14" name="Oval 13"/>
          <p:cNvSpPr/>
          <p:nvPr/>
        </p:nvSpPr>
        <p:spPr>
          <a:xfrm>
            <a:off x="9281160" y="2871216"/>
            <a:ext cx="841248" cy="841248"/>
          </a:xfrm>
          <a:prstGeom prst="ellipse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D97706"/>
                </a:solidFill>
                <a:latin typeface="Calibri"/>
              </a:rPr>
              <a:t>CI/CD</a:t>
            </a:r>
          </a:p>
        </p:txBody>
      </p:sp>
      <p:sp>
        <p:nvSpPr>
          <p:cNvPr id="15" name="Oval 14"/>
          <p:cNvSpPr/>
          <p:nvPr/>
        </p:nvSpPr>
        <p:spPr>
          <a:xfrm>
            <a:off x="8558784" y="4069080"/>
            <a:ext cx="841248" cy="841248"/>
          </a:xfrm>
          <a:prstGeom prst="ellipse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DC2626"/>
                </a:solidFill>
                <a:latin typeface="Calibri"/>
              </a:rPr>
              <a:t>OPS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659368" y="2048256"/>
            <a:ext cx="62179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238744" y="2468880"/>
            <a:ext cx="0" cy="402336"/>
          </a:xfrm>
          <a:prstGeom prst="line">
            <a:avLst/>
          </a:prstGeom>
          <a:ln w="25400">
            <a:solidFill>
              <a:srgbClr val="DEE6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701784" y="2468880"/>
            <a:ext cx="0" cy="402336"/>
          </a:xfrm>
          <a:prstGeom prst="line">
            <a:avLst/>
          </a:prstGeom>
          <a:ln w="25400">
            <a:solidFill>
              <a:srgbClr val="DEE6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8558784" y="3291840"/>
            <a:ext cx="100584" cy="777240"/>
          </a:xfrm>
          <a:prstGeom prst="line">
            <a:avLst/>
          </a:prstGeom>
          <a:ln w="25400">
            <a:solidFill>
              <a:srgbClr val="DEE6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281160" y="3291840"/>
            <a:ext cx="118872" cy="777240"/>
          </a:xfrm>
          <a:prstGeom prst="line">
            <a:avLst/>
          </a:prstGeom>
          <a:ln w="25400">
            <a:solidFill>
              <a:srgbClr val="DEE6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